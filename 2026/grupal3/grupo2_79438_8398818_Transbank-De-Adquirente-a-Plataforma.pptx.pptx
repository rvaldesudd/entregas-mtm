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3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Arimo Bold" charset="1" panose="020B0704020202020204"/>
      <p:regular r:id="rId16"/>
    </p:embeddedFont>
    <p:embeddedFont>
      <p:font typeface="Arimo" charset="1" panose="020B0604020202020204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notesMasters/notesMaster1.xml" Type="http://schemas.openxmlformats.org/officeDocument/2006/relationships/notesMaster"/><Relationship Id="rId14" Target="theme/theme2.xml" Type="http://schemas.openxmlformats.org/officeDocument/2006/relationships/theme"/><Relationship Id="rId15" Target="notesSlides/notesSlide1.xml" Type="http://schemas.openxmlformats.org/officeDocument/2006/relationships/notes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notesSlides/notesSlide2.xml" Type="http://schemas.openxmlformats.org/officeDocument/2006/relationships/notesSlide"/><Relationship Id="rId19" Target="notesSlides/notesSlide3.xml" Type="http://schemas.openxmlformats.org/officeDocument/2006/relationships/notesSlide"/><Relationship Id="rId2" Target="presProps.xml" Type="http://schemas.openxmlformats.org/officeDocument/2006/relationships/presProps"/><Relationship Id="rId20" Target="notesSlides/notesSlide4.xml" Type="http://schemas.openxmlformats.org/officeDocument/2006/relationships/notesSlide"/><Relationship Id="rId21" Target="notesSlides/notesSlide5.xml" Type="http://schemas.openxmlformats.org/officeDocument/2006/relationships/notesSlide"/><Relationship Id="rId22" Target="notesSlides/notesSlide6.xml" Type="http://schemas.openxmlformats.org/officeDocument/2006/relationships/notesSlide"/><Relationship Id="rId23" Target="notesSlides/notesSlide7.xml" Type="http://schemas.openxmlformats.org/officeDocument/2006/relationships/notes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3.png" Type="http://schemas.openxmlformats.org/officeDocument/2006/relationships/image"/><Relationship Id="rId6" Target="../media/image4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4.png" Type="http://schemas.openxmlformats.org/officeDocument/2006/relationships/image"/><Relationship Id="rId4" Target="../media/image5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6.pn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Relationship Id="rId6" Target="../media/image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9.png" Type="http://schemas.openxmlformats.org/officeDocument/2006/relationships/image"/><Relationship Id="rId4" Target="../media/image10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4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1.png" Type="http://schemas.openxmlformats.org/officeDocument/2006/relationships/image"/><Relationship Id="rId4" Target="../media/image12.svg" Type="http://schemas.openxmlformats.org/officeDocument/2006/relationships/image"/><Relationship Id="rId5" Target="../media/image4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995805" y="-995805"/>
            <a:ext cx="11092305" cy="11092305"/>
          </a:xfrm>
          <a:custGeom>
            <a:avLst/>
            <a:gdLst/>
            <a:ahLst/>
            <a:cxnLst/>
            <a:rect r="r" b="b" t="t" l="l"/>
            <a:pathLst>
              <a:path h="11092305" w="11092305">
                <a:moveTo>
                  <a:pt x="0" y="0"/>
                </a:moveTo>
                <a:lnTo>
                  <a:pt x="11092305" y="0"/>
                </a:lnTo>
                <a:lnTo>
                  <a:pt x="11092305" y="11092305"/>
                </a:lnTo>
                <a:lnTo>
                  <a:pt x="0" y="110923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7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 rot="0">
            <a:off x="0" y="10096500"/>
            <a:ext cx="18288000" cy="0"/>
          </a:xfrm>
          <a:prstGeom prst="line">
            <a:avLst/>
          </a:prstGeom>
          <a:ln cap="flat" w="1905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565925" y="773163"/>
            <a:ext cx="7374099" cy="8740675"/>
          </a:xfrm>
          <a:custGeom>
            <a:avLst/>
            <a:gdLst/>
            <a:ahLst/>
            <a:cxnLst/>
            <a:rect r="r" b="b" t="t" l="l"/>
            <a:pathLst>
              <a:path h="8740675" w="7374099">
                <a:moveTo>
                  <a:pt x="0" y="0"/>
                </a:moveTo>
                <a:lnTo>
                  <a:pt x="7374098" y="0"/>
                </a:lnTo>
                <a:lnTo>
                  <a:pt x="7374098" y="8740674"/>
                </a:lnTo>
                <a:lnTo>
                  <a:pt x="0" y="874067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9144000" y="2356084"/>
            <a:ext cx="7942116" cy="5560081"/>
            <a:chOff x="0" y="0"/>
            <a:chExt cx="10589489" cy="7413441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3739019"/>
              <a:ext cx="10589489" cy="197160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840"/>
                </a:lnSpc>
                <a:spcBef>
                  <a:spcPct val="0"/>
                </a:spcBef>
              </a:pPr>
              <a:r>
                <a:rPr lang="en-US" b="true" sz="3200">
                  <a:solidFill>
                    <a:srgbClr val="5B5F71"/>
                  </a:solidFill>
                  <a:latin typeface="Arimo Bold"/>
                  <a:ea typeface="Arimo Bold"/>
                  <a:cs typeface="Arimo Bold"/>
                  <a:sym typeface="Arimo Bold"/>
                </a:rPr>
                <a:t>De adquirente a plataforma</a:t>
              </a:r>
            </a:p>
            <a:p>
              <a:pPr algn="l" marL="0" indent="0" lvl="0">
                <a:lnSpc>
                  <a:spcPts val="3840"/>
                </a:lnSpc>
                <a:spcBef>
                  <a:spcPct val="0"/>
                </a:spcBef>
              </a:pPr>
              <a:r>
                <a:rPr lang="en-US" b="true" sz="3200">
                  <a:solidFill>
                    <a:srgbClr val="5B5F71"/>
                  </a:solidFill>
                  <a:latin typeface="Arimo Bold"/>
                  <a:ea typeface="Arimo Bold"/>
                  <a:cs typeface="Arimo Bold"/>
                  <a:sym typeface="Arimo Bold"/>
                </a:rPr>
                <a:t>Cada transacción conecta. </a:t>
              </a:r>
            </a:p>
            <a:p>
              <a:pPr algn="l" marL="0" indent="0" lvl="0">
                <a:lnSpc>
                  <a:spcPts val="3840"/>
                </a:lnSpc>
                <a:spcBef>
                  <a:spcPct val="0"/>
                </a:spcBef>
              </a:pPr>
              <a:r>
                <a:rPr lang="en-US" b="true" sz="3200">
                  <a:solidFill>
                    <a:srgbClr val="5B5F71"/>
                  </a:solidFill>
                  <a:latin typeface="Arimo Bold"/>
                  <a:ea typeface="Arimo Bold"/>
                  <a:cs typeface="Arimo Bold"/>
                  <a:sym typeface="Arimo Bold"/>
                </a:rPr>
                <a:t>Cada conexión multiplica el valor.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6048892"/>
              <a:ext cx="10589489" cy="136454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730"/>
                </a:lnSpc>
              </a:pPr>
              <a:r>
                <a:rPr lang="en-US" sz="2100">
                  <a:solidFill>
                    <a:srgbClr val="E35099"/>
                  </a:solidFill>
                  <a:latin typeface="Arimo"/>
                  <a:ea typeface="Arimo"/>
                  <a:cs typeface="Arimo"/>
                  <a:sym typeface="Arimo"/>
                </a:rPr>
                <a:t>Agustin Campos </a:t>
              </a:r>
            </a:p>
            <a:p>
              <a:pPr algn="l" marL="0" indent="0" lvl="0">
                <a:lnSpc>
                  <a:spcPts val="2730"/>
                </a:lnSpc>
              </a:pPr>
              <a:r>
                <a:rPr lang="en-US" sz="2100">
                  <a:solidFill>
                    <a:srgbClr val="E35099"/>
                  </a:solidFill>
                  <a:latin typeface="Arimo"/>
                  <a:ea typeface="Arimo"/>
                  <a:cs typeface="Arimo"/>
                  <a:sym typeface="Arimo"/>
                </a:rPr>
                <a:t>Ignacia Cabrera</a:t>
              </a:r>
            </a:p>
            <a:p>
              <a:pPr algn="l" marL="0" indent="0" lvl="0">
                <a:lnSpc>
                  <a:spcPts val="2730"/>
                </a:lnSpc>
              </a:pPr>
              <a:r>
                <a:rPr lang="en-US" sz="2100">
                  <a:solidFill>
                    <a:srgbClr val="E35099"/>
                  </a:solidFill>
                  <a:latin typeface="Arimo"/>
                  <a:ea typeface="Arimo"/>
                  <a:cs typeface="Arimo"/>
                  <a:sym typeface="Arimo"/>
                </a:rPr>
                <a:t>Maria Ignacia Contreras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-38100"/>
              <a:ext cx="10589489" cy="342906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6720"/>
                </a:lnSpc>
              </a:pPr>
              <a:r>
                <a:rPr lang="en-US" b="true" sz="5600">
                  <a:solidFill>
                    <a:srgbClr val="E35099"/>
                  </a:solidFill>
                  <a:latin typeface="Arimo Bold"/>
                  <a:ea typeface="Arimo Bold"/>
                  <a:cs typeface="Arimo Bold"/>
                  <a:sym typeface="Arimo Bold"/>
                </a:rPr>
                <a:t>Transbank: De Adquirente a Plataforma</a:t>
              </a: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6131635" y="0"/>
            <a:ext cx="2127619" cy="1418413"/>
          </a:xfrm>
          <a:custGeom>
            <a:avLst/>
            <a:gdLst/>
            <a:ahLst/>
            <a:cxnLst/>
            <a:rect r="r" b="b" t="t" l="l"/>
            <a:pathLst>
              <a:path h="1418413" w="2127619">
                <a:moveTo>
                  <a:pt x="0" y="0"/>
                </a:moveTo>
                <a:lnTo>
                  <a:pt x="2127619" y="0"/>
                </a:lnTo>
                <a:lnTo>
                  <a:pt x="2127619" y="1418413"/>
                </a:lnTo>
                <a:lnTo>
                  <a:pt x="0" y="141841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565241" y="5129719"/>
            <a:ext cx="4889002" cy="2967190"/>
            <a:chOff x="0" y="0"/>
            <a:chExt cx="6518669" cy="395625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518656" cy="3956304"/>
            </a:xfrm>
            <a:custGeom>
              <a:avLst/>
              <a:gdLst/>
              <a:ahLst/>
              <a:cxnLst/>
              <a:rect r="r" b="b" t="t" l="l"/>
              <a:pathLst>
                <a:path h="3956304" w="6518656">
                  <a:moveTo>
                    <a:pt x="0" y="209804"/>
                  </a:moveTo>
                  <a:cubicBezTo>
                    <a:pt x="0" y="93980"/>
                    <a:pt x="93980" y="0"/>
                    <a:pt x="209804" y="0"/>
                  </a:cubicBezTo>
                  <a:lnTo>
                    <a:pt x="6308852" y="0"/>
                  </a:lnTo>
                  <a:cubicBezTo>
                    <a:pt x="6424676" y="0"/>
                    <a:pt x="6518656" y="93980"/>
                    <a:pt x="6518656" y="209804"/>
                  </a:cubicBezTo>
                  <a:lnTo>
                    <a:pt x="6518656" y="3746500"/>
                  </a:lnTo>
                  <a:cubicBezTo>
                    <a:pt x="6518656" y="3862324"/>
                    <a:pt x="6424676" y="3956304"/>
                    <a:pt x="6308852" y="3956304"/>
                  </a:cubicBezTo>
                  <a:lnTo>
                    <a:pt x="209804" y="3956304"/>
                  </a:lnTo>
                  <a:cubicBezTo>
                    <a:pt x="93980" y="3956304"/>
                    <a:pt x="0" y="3862324"/>
                    <a:pt x="0" y="3746500"/>
                  </a:cubicBezTo>
                  <a:close/>
                </a:path>
              </a:pathLst>
            </a:custGeom>
            <a:solidFill>
              <a:srgbClr val="40BAE9">
                <a:alpha val="90196"/>
              </a:srgbClr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7732071" y="8518727"/>
            <a:ext cx="9681867" cy="1186758"/>
            <a:chOff x="0" y="0"/>
            <a:chExt cx="12909156" cy="158234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909169" cy="1582420"/>
            </a:xfrm>
            <a:custGeom>
              <a:avLst/>
              <a:gdLst/>
              <a:ahLst/>
              <a:cxnLst/>
              <a:rect r="r" b="b" t="t" l="l"/>
              <a:pathLst>
                <a:path h="1582420" w="12909169">
                  <a:moveTo>
                    <a:pt x="0" y="122428"/>
                  </a:moveTo>
                  <a:cubicBezTo>
                    <a:pt x="0" y="54737"/>
                    <a:pt x="54737" y="0"/>
                    <a:pt x="122428" y="0"/>
                  </a:cubicBezTo>
                  <a:lnTo>
                    <a:pt x="12786741" y="0"/>
                  </a:lnTo>
                  <a:cubicBezTo>
                    <a:pt x="12854305" y="0"/>
                    <a:pt x="12909169" y="54737"/>
                    <a:pt x="12909169" y="122428"/>
                  </a:cubicBezTo>
                  <a:lnTo>
                    <a:pt x="12909169" y="1459992"/>
                  </a:lnTo>
                  <a:cubicBezTo>
                    <a:pt x="12909169" y="1527556"/>
                    <a:pt x="12854432" y="1582420"/>
                    <a:pt x="12786741" y="1582420"/>
                  </a:cubicBezTo>
                  <a:lnTo>
                    <a:pt x="122428" y="1582420"/>
                  </a:lnTo>
                  <a:cubicBezTo>
                    <a:pt x="54864" y="1582420"/>
                    <a:pt x="0" y="1527683"/>
                    <a:pt x="0" y="1459992"/>
                  </a:cubicBezTo>
                  <a:close/>
                </a:path>
              </a:pathLst>
            </a:custGeom>
            <a:solidFill>
              <a:srgbClr val="D4D5DE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16131635" y="0"/>
            <a:ext cx="2127619" cy="1418413"/>
          </a:xfrm>
          <a:custGeom>
            <a:avLst/>
            <a:gdLst/>
            <a:ahLst/>
            <a:cxnLst/>
            <a:rect r="r" b="b" t="t" l="l"/>
            <a:pathLst>
              <a:path h="1418413" w="2127619">
                <a:moveTo>
                  <a:pt x="0" y="0"/>
                </a:moveTo>
                <a:lnTo>
                  <a:pt x="2127619" y="0"/>
                </a:lnTo>
                <a:lnTo>
                  <a:pt x="2127619" y="1418413"/>
                </a:lnTo>
                <a:lnTo>
                  <a:pt x="0" y="141841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432615" y="450838"/>
            <a:ext cx="6480887" cy="9385323"/>
          </a:xfrm>
          <a:custGeom>
            <a:avLst/>
            <a:gdLst/>
            <a:ahLst/>
            <a:cxnLst/>
            <a:rect r="r" b="b" t="t" l="l"/>
            <a:pathLst>
              <a:path h="9385323" w="6480887">
                <a:moveTo>
                  <a:pt x="0" y="0"/>
                </a:moveTo>
                <a:lnTo>
                  <a:pt x="6480887" y="0"/>
                </a:lnTo>
                <a:lnTo>
                  <a:pt x="6480887" y="9385324"/>
                </a:lnTo>
                <a:lnTo>
                  <a:pt x="0" y="938532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86585" t="0" r="-87945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7513577" y="607970"/>
            <a:ext cx="10036437" cy="2145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73"/>
              </a:lnSpc>
            </a:pPr>
            <a:r>
              <a:rPr lang="en-US" b="true" sz="6700">
                <a:solidFill>
                  <a:srgbClr val="E35099"/>
                </a:solidFill>
                <a:latin typeface="Arimo Bold"/>
                <a:ea typeface="Arimo Bold"/>
                <a:cs typeface="Arimo Bold"/>
                <a:sym typeface="Arimo Bold"/>
              </a:rPr>
              <a:t>Transbank: De Adquirente a Plataforma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613309" y="3200848"/>
            <a:ext cx="9800630" cy="15097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7"/>
              </a:lnSpc>
            </a:pPr>
            <a:r>
              <a:rPr lang="en-US" sz="2000">
                <a:solidFill>
                  <a:srgbClr val="5B5F71"/>
                </a:solidFill>
                <a:latin typeface="Arimo"/>
                <a:ea typeface="Arimo"/>
                <a:cs typeface="Arimo"/>
                <a:sym typeface="Arimo"/>
              </a:rPr>
              <a:t>Principal adquirente de pagos en Chile, Transbank conecta comercios, bancos y consumidores procesando millones de transacciones diarias. Sin embargo, la acelerada digitalización, la entrada de fintechs y Big Tech, y la creciente fragmentación del mercado exponen las limitaciones de un modelo basado en volumen transaccional.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783725" y="5284053"/>
            <a:ext cx="3868126" cy="4445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4"/>
              </a:lnSpc>
            </a:pPr>
            <a:r>
              <a:rPr lang="en-US" sz="270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Cómo se crea valor hoy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783725" y="5789478"/>
            <a:ext cx="4452042" cy="18907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01625" indent="-150813" lvl="1">
              <a:lnSpc>
                <a:spcPts val="3037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Procesamiento de pagos en red nacional</a:t>
            </a:r>
          </a:p>
          <a:p>
            <a:pPr algn="l" marL="301625" indent="-150813" lvl="1">
              <a:lnSpc>
                <a:spcPts val="3037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Cobro por volumen transaccional</a:t>
            </a:r>
          </a:p>
          <a:p>
            <a:pPr algn="l" marL="301625" indent="-150813" lvl="1">
              <a:lnSpc>
                <a:spcPts val="3037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Infraestructura POS y plataformas digitales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839557" y="5284053"/>
            <a:ext cx="4095998" cy="4445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4"/>
              </a:lnSpc>
            </a:pPr>
            <a:r>
              <a:rPr lang="en-US" b="true" sz="2700">
                <a:solidFill>
                  <a:srgbClr val="E35099"/>
                </a:solidFill>
                <a:latin typeface="Arimo Bold"/>
                <a:ea typeface="Arimo Bold"/>
                <a:cs typeface="Arimo Bold"/>
                <a:sym typeface="Arimo Bold"/>
              </a:rPr>
              <a:t>Limitaciones del modelo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839557" y="5789478"/>
            <a:ext cx="4574381" cy="22717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01625" indent="-150813" lvl="1">
              <a:lnSpc>
                <a:spcPts val="3037"/>
              </a:lnSpc>
              <a:buFont typeface="Arial"/>
              <a:buChar char="•"/>
            </a:pPr>
            <a:r>
              <a:rPr lang="en-US" sz="2000">
                <a:solidFill>
                  <a:srgbClr val="5B5F71"/>
                </a:solidFill>
                <a:latin typeface="Arimo"/>
                <a:ea typeface="Arimo"/>
                <a:cs typeface="Arimo"/>
                <a:sym typeface="Arimo"/>
              </a:rPr>
              <a:t>Commoditización del procesamiento</a:t>
            </a:r>
          </a:p>
          <a:p>
            <a:pPr algn="l" marL="301625" indent="-150813" lvl="1">
              <a:lnSpc>
                <a:spcPts val="3037"/>
              </a:lnSpc>
              <a:buFont typeface="Arial"/>
              <a:buChar char="•"/>
            </a:pPr>
            <a:r>
              <a:rPr lang="en-US" sz="2000">
                <a:solidFill>
                  <a:srgbClr val="5B5F71"/>
                </a:solidFill>
                <a:latin typeface="Arimo"/>
                <a:ea typeface="Arimo"/>
                <a:cs typeface="Arimo"/>
                <a:sym typeface="Arimo"/>
              </a:rPr>
              <a:t>Baja diferenciación frente a nuevos entrantes</a:t>
            </a:r>
          </a:p>
          <a:p>
            <a:pPr algn="l" marL="301625" indent="-150813" lvl="1">
              <a:lnSpc>
                <a:spcPts val="3037"/>
              </a:lnSpc>
              <a:buFont typeface="Arial"/>
              <a:buChar char="•"/>
            </a:pPr>
            <a:r>
              <a:rPr lang="en-US" sz="2000">
                <a:solidFill>
                  <a:srgbClr val="5B5F71"/>
                </a:solidFill>
                <a:latin typeface="Arimo"/>
                <a:ea typeface="Arimo"/>
                <a:cs typeface="Arimo"/>
                <a:sym typeface="Arimo"/>
              </a:rPr>
              <a:t>Dependencia total del volumen</a:t>
            </a:r>
          </a:p>
          <a:p>
            <a:pPr algn="l" marL="301625" indent="-150813" lvl="1">
              <a:lnSpc>
                <a:spcPts val="3037"/>
              </a:lnSpc>
              <a:buFont typeface="Arial"/>
              <a:buChar char="•"/>
            </a:pPr>
            <a:r>
              <a:rPr lang="en-US" sz="2000">
                <a:solidFill>
                  <a:srgbClr val="5B5F71"/>
                </a:solidFill>
                <a:latin typeface="Arimo"/>
                <a:ea typeface="Arimo"/>
                <a:cs typeface="Arimo"/>
                <a:sym typeface="Arimo"/>
              </a:rPr>
              <a:t>Subutilización del activo más valioso: los datos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975583" y="8699112"/>
            <a:ext cx="9219861" cy="7477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7"/>
              </a:lnSpc>
            </a:pPr>
            <a:r>
              <a:rPr lang="en-US" sz="2000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Insight clave:</a:t>
            </a:r>
            <a:r>
              <a:rPr lang="en-US" sz="20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"El valor ya no está en procesar pagos, sino en capturar y usar los datos que cada transacción genera."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92238" y="895198"/>
            <a:ext cx="16219703" cy="10773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32"/>
              </a:lnSpc>
            </a:pPr>
            <a:r>
              <a:rPr lang="en-US" b="true" sz="6699">
                <a:solidFill>
                  <a:srgbClr val="E35099"/>
                </a:solidFill>
                <a:latin typeface="Arimo Bold"/>
                <a:ea typeface="Arimo Bold"/>
                <a:cs typeface="Arimo Bold"/>
                <a:sym typeface="Arimo Bold"/>
              </a:rPr>
              <a:t>Cambios en las Expectativas del Cliente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92238" y="2137772"/>
            <a:ext cx="16303523" cy="12096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5"/>
              </a:lnSpc>
            </a:pPr>
            <a:r>
              <a:rPr lang="en-US" sz="2000">
                <a:solidFill>
                  <a:srgbClr val="5B5F71"/>
                </a:solidFill>
                <a:latin typeface="Arimo"/>
                <a:ea typeface="Arimo"/>
                <a:cs typeface="Arimo"/>
                <a:sym typeface="Arimo"/>
              </a:rPr>
              <a:t>La tecnología está redefiniendo lo que los usuarios y comercios esperan de los servicios de pago. Ya no basta con procesar transacciones de forma confiable: la demanda exige experiencias integradas, personalizadas e invisibles. Tres cambios estructurales están acelerando esta transformación.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028700" y="3747212"/>
            <a:ext cx="4518565" cy="2792577"/>
            <a:chOff x="0" y="0"/>
            <a:chExt cx="4042766" cy="2498522"/>
          </a:xfrm>
        </p:grpSpPr>
        <p:sp>
          <p:nvSpPr>
            <p:cNvPr name="Freeform 5" id="5" descr="preencoded.png"/>
            <p:cNvSpPr/>
            <p:nvPr/>
          </p:nvSpPr>
          <p:spPr>
            <a:xfrm flipH="false" flipV="false" rot="0">
              <a:off x="0" y="0"/>
              <a:ext cx="4042791" cy="2498471"/>
            </a:xfrm>
            <a:custGeom>
              <a:avLst/>
              <a:gdLst/>
              <a:ahLst/>
              <a:cxnLst/>
              <a:rect r="r" b="b" t="t" l="l"/>
              <a:pathLst>
                <a:path h="2498471" w="4042791">
                  <a:moveTo>
                    <a:pt x="0" y="0"/>
                  </a:moveTo>
                  <a:lnTo>
                    <a:pt x="4042791" y="0"/>
                  </a:lnTo>
                  <a:lnTo>
                    <a:pt x="4042791" y="2498471"/>
                  </a:lnTo>
                  <a:lnTo>
                    <a:pt x="0" y="24984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18" r="0" b="-121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6825349"/>
            <a:ext cx="4039692" cy="4371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23"/>
              </a:lnSpc>
            </a:pPr>
            <a:r>
              <a:rPr lang="en-US" sz="2700" b="true">
                <a:solidFill>
                  <a:srgbClr val="5B5F71"/>
                </a:solidFill>
                <a:latin typeface="Arimo Bold"/>
                <a:ea typeface="Arimo Bold"/>
                <a:cs typeface="Arimo Bold"/>
                <a:sym typeface="Arimo Bold"/>
              </a:rPr>
              <a:t>Experiencias sin fricción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238" y="7304723"/>
            <a:ext cx="5227739" cy="12096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5"/>
              </a:lnSpc>
            </a:pPr>
            <a:r>
              <a:rPr lang="en-US" sz="2000">
                <a:solidFill>
                  <a:srgbClr val="5B5F71"/>
                </a:solidFill>
                <a:latin typeface="Arimo"/>
                <a:ea typeface="Arimo"/>
                <a:cs typeface="Arimo"/>
                <a:sym typeface="Arimo"/>
              </a:rPr>
              <a:t>Pagos invisibles, rápidos e integrados en el flujo de compra. El usuario ya no debe "hacer" el pago — simplemente ocurre.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6406593" y="3747212"/>
            <a:ext cx="5011720" cy="2684807"/>
            <a:chOff x="0" y="0"/>
            <a:chExt cx="4042766" cy="2165733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4042791" cy="2165689"/>
            </a:xfrm>
            <a:custGeom>
              <a:avLst/>
              <a:gdLst/>
              <a:ahLst/>
              <a:cxnLst/>
              <a:rect r="r" b="b" t="t" l="l"/>
              <a:pathLst>
                <a:path h="2165689" w="4042791">
                  <a:moveTo>
                    <a:pt x="0" y="0"/>
                  </a:moveTo>
                  <a:lnTo>
                    <a:pt x="4042791" y="0"/>
                  </a:lnTo>
                  <a:lnTo>
                    <a:pt x="4042791" y="2165689"/>
                  </a:lnTo>
                  <a:lnTo>
                    <a:pt x="0" y="21656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7820" r="0" b="-7823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6529978" y="6858100"/>
            <a:ext cx="4888334" cy="3811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53"/>
              </a:lnSpc>
            </a:pPr>
            <a:r>
              <a:rPr lang="en-US" sz="2400" b="true">
                <a:solidFill>
                  <a:srgbClr val="5B5F71"/>
                </a:solidFill>
                <a:latin typeface="Arimo Bold"/>
                <a:ea typeface="Arimo Bold"/>
                <a:cs typeface="Arimo Bold"/>
                <a:sym typeface="Arimo Bold"/>
              </a:rPr>
              <a:t>Personalización basada en datos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529978" y="7304723"/>
            <a:ext cx="5227882" cy="12096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5"/>
              </a:lnSpc>
            </a:pPr>
            <a:r>
              <a:rPr lang="en-US" sz="2000">
                <a:solidFill>
                  <a:srgbClr val="5B5F71"/>
                </a:solidFill>
                <a:latin typeface="Arimo"/>
                <a:ea typeface="Arimo"/>
                <a:cs typeface="Arimo"/>
                <a:sym typeface="Arimo"/>
              </a:rPr>
              <a:t>Ofertas, recomendaciones y servicios financieros adaptados al perfil transaccional de cada usuario y comercio.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2067880" y="3874483"/>
            <a:ext cx="4816494" cy="2665305"/>
            <a:chOff x="0" y="0"/>
            <a:chExt cx="4515098" cy="2498522"/>
          </a:xfrm>
        </p:grpSpPr>
        <p:sp>
          <p:nvSpPr>
            <p:cNvPr name="Freeform 13" id="13" descr="preencoded.png"/>
            <p:cNvSpPr/>
            <p:nvPr/>
          </p:nvSpPr>
          <p:spPr>
            <a:xfrm flipH="false" flipV="false" rot="0">
              <a:off x="0" y="0"/>
              <a:ext cx="4515123" cy="2498471"/>
            </a:xfrm>
            <a:custGeom>
              <a:avLst/>
              <a:gdLst/>
              <a:ahLst/>
              <a:cxnLst/>
              <a:rect r="r" b="b" t="t" l="l"/>
              <a:pathLst>
                <a:path h="2498471" w="4515123">
                  <a:moveTo>
                    <a:pt x="0" y="0"/>
                  </a:moveTo>
                  <a:lnTo>
                    <a:pt x="4515123" y="0"/>
                  </a:lnTo>
                  <a:lnTo>
                    <a:pt x="4515123" y="2498471"/>
                  </a:lnTo>
                  <a:lnTo>
                    <a:pt x="0" y="24984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5975" r="0" b="-5978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2067880" y="6825349"/>
            <a:ext cx="3143415" cy="4371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23"/>
              </a:lnSpc>
            </a:pPr>
            <a:r>
              <a:rPr lang="en-US" sz="2700" b="true">
                <a:solidFill>
                  <a:srgbClr val="5B5F71"/>
                </a:solidFill>
                <a:latin typeface="Arimo Bold"/>
                <a:ea typeface="Arimo Bold"/>
                <a:cs typeface="Arimo Bold"/>
                <a:sym typeface="Arimo Bold"/>
              </a:rPr>
              <a:t>Embedded Finance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067880" y="7304723"/>
            <a:ext cx="5227882" cy="12096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5"/>
              </a:lnSpc>
            </a:pPr>
            <a:r>
              <a:rPr lang="en-US" sz="2000">
                <a:solidFill>
                  <a:srgbClr val="5B5F71"/>
                </a:solidFill>
                <a:latin typeface="Arimo"/>
                <a:ea typeface="Arimo"/>
                <a:cs typeface="Arimo"/>
                <a:sym typeface="Arimo"/>
              </a:rPr>
              <a:t>Servicios financieros integrados directamente en plataformas no financieras: e-commerce, marketplaces, apps de delivery y retail.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992238" y="8962070"/>
            <a:ext cx="16303523" cy="787159"/>
            <a:chOff x="0" y="0"/>
            <a:chExt cx="21738031" cy="104954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1738082" cy="1049596"/>
            </a:xfrm>
            <a:custGeom>
              <a:avLst/>
              <a:gdLst/>
              <a:ahLst/>
              <a:cxnLst/>
              <a:rect r="r" b="b" t="t" l="l"/>
              <a:pathLst>
                <a:path h="1049596" w="21738082">
                  <a:moveTo>
                    <a:pt x="0" y="103763"/>
                  </a:moveTo>
                  <a:cubicBezTo>
                    <a:pt x="0" y="46475"/>
                    <a:pt x="62230" y="0"/>
                    <a:pt x="138938" y="0"/>
                  </a:cubicBezTo>
                  <a:lnTo>
                    <a:pt x="21599144" y="0"/>
                  </a:lnTo>
                  <a:cubicBezTo>
                    <a:pt x="21675852" y="0"/>
                    <a:pt x="21738082" y="46475"/>
                    <a:pt x="21738082" y="103763"/>
                  </a:cubicBezTo>
                  <a:lnTo>
                    <a:pt x="21738082" y="945820"/>
                  </a:lnTo>
                  <a:cubicBezTo>
                    <a:pt x="21738082" y="1003108"/>
                    <a:pt x="21675852" y="1049596"/>
                    <a:pt x="21599144" y="1049596"/>
                  </a:cubicBezTo>
                  <a:lnTo>
                    <a:pt x="138938" y="1049596"/>
                  </a:lnTo>
                  <a:cubicBezTo>
                    <a:pt x="62230" y="1049596"/>
                    <a:pt x="0" y="1003108"/>
                    <a:pt x="0" y="945820"/>
                  </a:cubicBezTo>
                  <a:close/>
                </a:path>
              </a:pathLst>
            </a:custGeom>
            <a:solidFill>
              <a:srgbClr val="D4D5DE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1477251" y="9117559"/>
            <a:ext cx="15249677" cy="3904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5"/>
              </a:lnSpc>
            </a:pPr>
            <a:r>
              <a:rPr lang="en-US" sz="2000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Insight clave:</a:t>
            </a:r>
            <a:r>
              <a:rPr lang="en-US" sz="20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"El pago deja de ser un evento transaccional y pasa a ser parte invisible e integrada de la experiencia del usuario."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16131635" y="0"/>
            <a:ext cx="2127619" cy="1418413"/>
          </a:xfrm>
          <a:custGeom>
            <a:avLst/>
            <a:gdLst/>
            <a:ahLst/>
            <a:cxnLst/>
            <a:rect r="r" b="b" t="t" l="l"/>
            <a:pathLst>
              <a:path h="1418413" w="2127619">
                <a:moveTo>
                  <a:pt x="0" y="0"/>
                </a:moveTo>
                <a:lnTo>
                  <a:pt x="2127619" y="0"/>
                </a:lnTo>
                <a:lnTo>
                  <a:pt x="2127619" y="1418413"/>
                </a:lnTo>
                <a:lnTo>
                  <a:pt x="0" y="141841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68300" y="642531"/>
            <a:ext cx="11211306" cy="11328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705"/>
              </a:lnSpc>
            </a:pPr>
            <a:r>
              <a:rPr lang="en-US" b="true" sz="6999">
                <a:solidFill>
                  <a:srgbClr val="E35099"/>
                </a:solidFill>
                <a:latin typeface="Arimo Bold"/>
                <a:ea typeface="Arimo Bold"/>
                <a:cs typeface="Arimo Bold"/>
                <a:sym typeface="Arimo Bold"/>
              </a:rPr>
              <a:t>La Oportunidad Disruptiva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92238" y="2647055"/>
            <a:ext cx="3863165" cy="3997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6"/>
              </a:lnSpc>
            </a:pPr>
            <a:r>
              <a:rPr lang="en-US" b="true" sz="2499">
                <a:solidFill>
                  <a:srgbClr val="E35099"/>
                </a:solidFill>
                <a:latin typeface="Arimo Bold"/>
                <a:ea typeface="Arimo Bold"/>
                <a:cs typeface="Arimo Bold"/>
                <a:sym typeface="Arimo Bold"/>
              </a:rPr>
              <a:t>Redefinición del mercado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92238" y="3216021"/>
            <a:ext cx="8694534" cy="1619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5"/>
              </a:lnSpc>
            </a:pPr>
            <a:r>
              <a:rPr lang="en-US" sz="2000">
                <a:solidFill>
                  <a:srgbClr val="5B5F71"/>
                </a:solidFill>
                <a:latin typeface="Arimo"/>
                <a:ea typeface="Arimo"/>
                <a:cs typeface="Arimo"/>
                <a:sym typeface="Arimo"/>
              </a:rPr>
              <a:t>El mercado ya no es "adquirencia de pagos". La oportunidad real es construir un </a:t>
            </a:r>
            <a:r>
              <a:rPr lang="en-US" sz="2000" b="true">
                <a:solidFill>
                  <a:srgbClr val="5B5F71"/>
                </a:solidFill>
                <a:latin typeface="Arimo Bold"/>
                <a:ea typeface="Arimo Bold"/>
                <a:cs typeface="Arimo Bold"/>
                <a:sym typeface="Arimo Bold"/>
              </a:rPr>
              <a:t>ecosistema financiero digital basado en datos</a:t>
            </a:r>
            <a:r>
              <a:rPr lang="en-US" sz="2000">
                <a:solidFill>
                  <a:srgbClr val="5B5F71"/>
                </a:solidFill>
                <a:latin typeface="Arimo"/>
                <a:ea typeface="Arimo"/>
                <a:cs typeface="Arimo"/>
                <a:sym typeface="Arimo"/>
              </a:rPr>
              <a:t>, donde Transbank opera como plataforma habilitadora de valor para comercios, consumidores e instituciones financieras.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92238" y="5623474"/>
            <a:ext cx="5098107" cy="3997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6"/>
              </a:lnSpc>
            </a:pPr>
            <a:r>
              <a:rPr lang="en-US" b="true" sz="2499">
                <a:solidFill>
                  <a:srgbClr val="E35099"/>
                </a:solidFill>
                <a:latin typeface="Arimo Bold"/>
                <a:ea typeface="Arimo Bold"/>
                <a:cs typeface="Arimo Bold"/>
                <a:sym typeface="Arimo Bold"/>
              </a:rPr>
              <a:t>El modelo que se vuelve obsoleto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92238" y="6192441"/>
            <a:ext cx="16491499" cy="8000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5"/>
              </a:lnSpc>
            </a:pPr>
            <a:r>
              <a:rPr lang="en-US" sz="2000">
                <a:solidFill>
                  <a:srgbClr val="5B5F71"/>
                </a:solidFill>
                <a:latin typeface="Arimo"/>
                <a:ea typeface="Arimo"/>
                <a:cs typeface="Arimo"/>
                <a:sym typeface="Arimo"/>
              </a:rPr>
              <a:t>El modelo tradicional —cobrar por transacción procesada— está siendo arbitrado a cero por nuevos entrantes con estructuras de costo radicalmente menores y sin infraestructura heredada.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0122846" y="2666105"/>
            <a:ext cx="7360891" cy="2719245"/>
            <a:chOff x="0" y="0"/>
            <a:chExt cx="9814522" cy="362566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814560" cy="3625761"/>
            </a:xfrm>
            <a:custGeom>
              <a:avLst/>
              <a:gdLst/>
              <a:ahLst/>
              <a:cxnLst/>
              <a:rect r="r" b="b" t="t" l="l"/>
              <a:pathLst>
                <a:path h="3625761" w="9814560">
                  <a:moveTo>
                    <a:pt x="0" y="135852"/>
                  </a:moveTo>
                  <a:cubicBezTo>
                    <a:pt x="0" y="60829"/>
                    <a:pt x="106680" y="0"/>
                    <a:pt x="238252" y="0"/>
                  </a:cubicBezTo>
                  <a:lnTo>
                    <a:pt x="9576308" y="0"/>
                  </a:lnTo>
                  <a:cubicBezTo>
                    <a:pt x="9707880" y="0"/>
                    <a:pt x="9814560" y="60829"/>
                    <a:pt x="9814560" y="135852"/>
                  </a:cubicBezTo>
                  <a:lnTo>
                    <a:pt x="9814560" y="3489865"/>
                  </a:lnTo>
                  <a:cubicBezTo>
                    <a:pt x="9814560" y="3564888"/>
                    <a:pt x="9707880" y="3625761"/>
                    <a:pt x="9576308" y="3625761"/>
                  </a:cubicBezTo>
                  <a:lnTo>
                    <a:pt x="238252" y="3625761"/>
                  </a:lnTo>
                  <a:cubicBezTo>
                    <a:pt x="106680" y="3625645"/>
                    <a:pt x="0" y="3564816"/>
                    <a:pt x="0" y="3489865"/>
                  </a:cubicBezTo>
                  <a:close/>
                </a:path>
              </a:pathLst>
            </a:custGeom>
            <a:solidFill>
              <a:srgbClr val="40BAE9">
                <a:alpha val="90196"/>
              </a:srgbClr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10370791" y="2895009"/>
            <a:ext cx="3668944" cy="3997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6"/>
              </a:lnSpc>
            </a:pPr>
            <a:r>
              <a:rPr lang="en-US" sz="2499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Oportunidad estratégica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370791" y="3463976"/>
            <a:ext cx="6864991" cy="1619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01625" indent="-150813" lvl="1">
              <a:lnSpc>
                <a:spcPts val="3225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Transformar Transbank en plataforma de Open Finance</a:t>
            </a:r>
          </a:p>
          <a:p>
            <a:pPr algn="l" marL="301625" indent="-150813" lvl="1">
              <a:lnSpc>
                <a:spcPts val="3225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Monetizar datos transaccionales únicos a escala</a:t>
            </a:r>
          </a:p>
          <a:p>
            <a:pPr algn="l" marL="301625" indent="-150813" lvl="1">
              <a:lnSpc>
                <a:spcPts val="3225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Habilitar servicios financieros embebidos para terceros</a:t>
            </a:r>
          </a:p>
          <a:p>
            <a:pPr algn="l" marL="301625" indent="-150813" lvl="1">
              <a:lnSpc>
                <a:spcPts val="3225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Capturar valor del ecosistema, no solo del flujo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992238" y="8259329"/>
            <a:ext cx="16303523" cy="811398"/>
            <a:chOff x="0" y="0"/>
            <a:chExt cx="21738031" cy="108186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738082" cy="1081915"/>
            </a:xfrm>
            <a:custGeom>
              <a:avLst/>
              <a:gdLst/>
              <a:ahLst/>
              <a:cxnLst/>
              <a:rect r="r" b="b" t="t" l="l"/>
              <a:pathLst>
                <a:path h="1081915" w="21738082">
                  <a:moveTo>
                    <a:pt x="0" y="106958"/>
                  </a:moveTo>
                  <a:cubicBezTo>
                    <a:pt x="0" y="47906"/>
                    <a:pt x="62230" y="0"/>
                    <a:pt x="138938" y="0"/>
                  </a:cubicBezTo>
                  <a:lnTo>
                    <a:pt x="21599144" y="0"/>
                  </a:lnTo>
                  <a:cubicBezTo>
                    <a:pt x="21675852" y="0"/>
                    <a:pt x="21738082" y="47906"/>
                    <a:pt x="21738082" y="106958"/>
                  </a:cubicBezTo>
                  <a:lnTo>
                    <a:pt x="21738082" y="974945"/>
                  </a:lnTo>
                  <a:cubicBezTo>
                    <a:pt x="21738082" y="1033997"/>
                    <a:pt x="21675852" y="1081915"/>
                    <a:pt x="21599144" y="1081915"/>
                  </a:cubicBezTo>
                  <a:lnTo>
                    <a:pt x="138938" y="1081915"/>
                  </a:lnTo>
                  <a:cubicBezTo>
                    <a:pt x="62230" y="1081915"/>
                    <a:pt x="0" y="1033997"/>
                    <a:pt x="0" y="974945"/>
                  </a:cubicBezTo>
                  <a:close/>
                </a:path>
              </a:pathLst>
            </a:custGeom>
            <a:solidFill>
              <a:srgbClr val="D4D5DE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798139" y="8483462"/>
            <a:ext cx="15249677" cy="3904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5"/>
              </a:lnSpc>
            </a:pPr>
            <a:r>
              <a:rPr lang="en-US" sz="2000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Insight clave:</a:t>
            </a:r>
            <a:r>
              <a:rPr lang="en-US" sz="20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"El futuro no compite por transacciones — compite por ecosistemas. Quien controla la plataforma, captura el valor."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16131635" y="0"/>
            <a:ext cx="2127619" cy="1418413"/>
          </a:xfrm>
          <a:custGeom>
            <a:avLst/>
            <a:gdLst/>
            <a:ahLst/>
            <a:cxnLst/>
            <a:rect r="r" b="b" t="t" l="l"/>
            <a:pathLst>
              <a:path h="1418413" w="2127619">
                <a:moveTo>
                  <a:pt x="0" y="0"/>
                </a:moveTo>
                <a:lnTo>
                  <a:pt x="2127619" y="0"/>
                </a:lnTo>
                <a:lnTo>
                  <a:pt x="2127619" y="1418413"/>
                </a:lnTo>
                <a:lnTo>
                  <a:pt x="0" y="141841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54434" y="786411"/>
            <a:ext cx="16405821" cy="10751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49"/>
              </a:lnSpc>
            </a:pPr>
            <a:r>
              <a:rPr lang="en-US" b="true" sz="6699">
                <a:solidFill>
                  <a:srgbClr val="E35099"/>
                </a:solidFill>
                <a:latin typeface="Arimo Bold"/>
                <a:ea typeface="Arimo Bold"/>
                <a:cs typeface="Arimo Bold"/>
                <a:sym typeface="Arimo Bold"/>
              </a:rPr>
              <a:t>Diseño de la Innovación: Efectos de Red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54434" y="2148472"/>
            <a:ext cx="16378980" cy="714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3"/>
              </a:lnSpc>
            </a:pPr>
            <a:r>
              <a:rPr lang="en-US" sz="2000">
                <a:solidFill>
                  <a:srgbClr val="5B5F71"/>
                </a:solidFill>
                <a:latin typeface="Arimo"/>
                <a:ea typeface="Arimo"/>
                <a:cs typeface="Arimo"/>
                <a:sym typeface="Arimo"/>
              </a:rPr>
              <a:t>La solución es transformar Transbank en una </a:t>
            </a:r>
            <a:r>
              <a:rPr lang="en-US" sz="2000" b="true">
                <a:solidFill>
                  <a:srgbClr val="5B5F71"/>
                </a:solidFill>
                <a:latin typeface="Arimo Bold"/>
                <a:ea typeface="Arimo Bold"/>
                <a:cs typeface="Arimo Bold"/>
                <a:sym typeface="Arimo Bold"/>
              </a:rPr>
              <a:t>plataforma multi-sided con efectos de red autoreforzantes</a:t>
            </a:r>
            <a:r>
              <a:rPr lang="en-US" sz="2000">
                <a:solidFill>
                  <a:srgbClr val="5B5F71"/>
                </a:solidFill>
                <a:latin typeface="Arimo"/>
                <a:ea typeface="Arimo"/>
                <a:cs typeface="Arimo"/>
                <a:sym typeface="Arimo"/>
              </a:rPr>
              <a:t>. A diferencia de un modelo lineal, el valor crece de forma no lineal con cada nuevo participante que se incorpora al ecosistema.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54434" y="3280931"/>
            <a:ext cx="5650591" cy="4489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b="true" sz="2799">
                <a:solidFill>
                  <a:srgbClr val="E35099"/>
                </a:solidFill>
                <a:latin typeface="Arimo Bold"/>
                <a:ea typeface="Arimo Bold"/>
                <a:cs typeface="Arimo Bold"/>
                <a:sym typeface="Arimo Bold"/>
              </a:rPr>
              <a:t>Propuesta de valor por segmento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954434" y="4282159"/>
            <a:ext cx="3487493" cy="3234301"/>
            <a:chOff x="0" y="0"/>
            <a:chExt cx="4649991" cy="431240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9050" y="24395"/>
              <a:ext cx="4612005" cy="4263676"/>
            </a:xfrm>
            <a:custGeom>
              <a:avLst/>
              <a:gdLst/>
              <a:ahLst/>
              <a:cxnLst/>
              <a:rect r="r" b="b" t="t" l="l"/>
              <a:pathLst>
                <a:path h="4263676" w="4612005">
                  <a:moveTo>
                    <a:pt x="0" y="234197"/>
                  </a:moveTo>
                  <a:cubicBezTo>
                    <a:pt x="0" y="104901"/>
                    <a:pt x="82169" y="0"/>
                    <a:pt x="183515" y="0"/>
                  </a:cubicBezTo>
                  <a:lnTo>
                    <a:pt x="4428490" y="0"/>
                  </a:lnTo>
                  <a:cubicBezTo>
                    <a:pt x="4529836" y="0"/>
                    <a:pt x="4612005" y="104901"/>
                    <a:pt x="4612005" y="234197"/>
                  </a:cubicBezTo>
                  <a:lnTo>
                    <a:pt x="4612005" y="4029480"/>
                  </a:lnTo>
                  <a:cubicBezTo>
                    <a:pt x="4612005" y="4158776"/>
                    <a:pt x="4529836" y="4263677"/>
                    <a:pt x="4428490" y="4263677"/>
                  </a:cubicBezTo>
                  <a:lnTo>
                    <a:pt x="183515" y="4263677"/>
                  </a:lnTo>
                  <a:cubicBezTo>
                    <a:pt x="82169" y="4263677"/>
                    <a:pt x="0" y="4158776"/>
                    <a:pt x="0" y="4029480"/>
                  </a:cubicBez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650105" cy="4312453"/>
            </a:xfrm>
            <a:custGeom>
              <a:avLst/>
              <a:gdLst/>
              <a:ahLst/>
              <a:cxnLst/>
              <a:rect r="r" b="b" t="t" l="l"/>
              <a:pathLst>
                <a:path h="4312453" w="4650105">
                  <a:moveTo>
                    <a:pt x="0" y="258592"/>
                  </a:moveTo>
                  <a:cubicBezTo>
                    <a:pt x="0" y="115634"/>
                    <a:pt x="90678" y="0"/>
                    <a:pt x="202565" y="0"/>
                  </a:cubicBezTo>
                  <a:lnTo>
                    <a:pt x="4447540" y="0"/>
                  </a:lnTo>
                  <a:lnTo>
                    <a:pt x="4447540" y="24395"/>
                  </a:lnTo>
                  <a:lnTo>
                    <a:pt x="4447540" y="0"/>
                  </a:lnTo>
                  <a:cubicBezTo>
                    <a:pt x="4559300" y="0"/>
                    <a:pt x="4650105" y="115634"/>
                    <a:pt x="4650105" y="258592"/>
                  </a:cubicBezTo>
                  <a:lnTo>
                    <a:pt x="4631055" y="258592"/>
                  </a:lnTo>
                  <a:lnTo>
                    <a:pt x="4650105" y="258592"/>
                  </a:lnTo>
                  <a:lnTo>
                    <a:pt x="4650105" y="4053875"/>
                  </a:lnTo>
                  <a:lnTo>
                    <a:pt x="4631055" y="4053875"/>
                  </a:lnTo>
                  <a:lnTo>
                    <a:pt x="4650105" y="4053875"/>
                  </a:lnTo>
                  <a:cubicBezTo>
                    <a:pt x="4650105" y="4196832"/>
                    <a:pt x="4559427" y="4312453"/>
                    <a:pt x="4447540" y="4312453"/>
                  </a:cubicBezTo>
                  <a:lnTo>
                    <a:pt x="4447540" y="4288072"/>
                  </a:lnTo>
                  <a:lnTo>
                    <a:pt x="4447540" y="4312453"/>
                  </a:lnTo>
                  <a:lnTo>
                    <a:pt x="202565" y="4312453"/>
                  </a:lnTo>
                  <a:lnTo>
                    <a:pt x="202565" y="4288072"/>
                  </a:lnTo>
                  <a:lnTo>
                    <a:pt x="202565" y="4312453"/>
                  </a:lnTo>
                  <a:cubicBezTo>
                    <a:pt x="90805" y="4312453"/>
                    <a:pt x="0" y="4196832"/>
                    <a:pt x="0" y="4053875"/>
                  </a:cubicBezTo>
                  <a:lnTo>
                    <a:pt x="0" y="258592"/>
                  </a:lnTo>
                  <a:lnTo>
                    <a:pt x="19050" y="258592"/>
                  </a:lnTo>
                  <a:lnTo>
                    <a:pt x="0" y="258592"/>
                  </a:lnTo>
                  <a:moveTo>
                    <a:pt x="38100" y="258592"/>
                  </a:moveTo>
                  <a:lnTo>
                    <a:pt x="38100" y="4053875"/>
                  </a:lnTo>
                  <a:lnTo>
                    <a:pt x="19050" y="4053875"/>
                  </a:lnTo>
                  <a:lnTo>
                    <a:pt x="38100" y="4053875"/>
                  </a:lnTo>
                  <a:cubicBezTo>
                    <a:pt x="38100" y="4169672"/>
                    <a:pt x="111633" y="4263676"/>
                    <a:pt x="202565" y="4263676"/>
                  </a:cubicBezTo>
                  <a:lnTo>
                    <a:pt x="4447540" y="4263676"/>
                  </a:lnTo>
                  <a:cubicBezTo>
                    <a:pt x="4538345" y="4263676"/>
                    <a:pt x="4612005" y="4169672"/>
                    <a:pt x="4612005" y="4053875"/>
                  </a:cubicBezTo>
                  <a:lnTo>
                    <a:pt x="4612005" y="258592"/>
                  </a:lnTo>
                  <a:cubicBezTo>
                    <a:pt x="4612005" y="142795"/>
                    <a:pt x="4538472" y="48791"/>
                    <a:pt x="4447540" y="48791"/>
                  </a:cubicBezTo>
                  <a:lnTo>
                    <a:pt x="202565" y="48791"/>
                  </a:lnTo>
                  <a:lnTo>
                    <a:pt x="202565" y="24395"/>
                  </a:lnTo>
                  <a:lnTo>
                    <a:pt x="202565" y="48791"/>
                  </a:lnTo>
                  <a:cubicBezTo>
                    <a:pt x="111633" y="48791"/>
                    <a:pt x="38100" y="142795"/>
                    <a:pt x="38100" y="258592"/>
                  </a:cubicBezTo>
                  <a:close/>
                </a:path>
              </a:pathLst>
            </a:custGeom>
            <a:solidFill>
              <a:srgbClr val="C8C9CF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247775" y="4500455"/>
            <a:ext cx="1640748" cy="4032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4"/>
              </a:lnSpc>
            </a:pPr>
            <a:r>
              <a:rPr lang="en-US" sz="2499" b="true">
                <a:solidFill>
                  <a:srgbClr val="5B5F71"/>
                </a:solidFill>
                <a:latin typeface="Arimo Bold"/>
                <a:ea typeface="Arimo Bold"/>
                <a:cs typeface="Arimo Bold"/>
                <a:sym typeface="Arimo Bold"/>
              </a:rPr>
              <a:t>Comercios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47775" y="5086350"/>
            <a:ext cx="2900810" cy="1800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3"/>
              </a:lnSpc>
            </a:pPr>
            <a:r>
              <a:rPr lang="en-US" sz="2000">
                <a:solidFill>
                  <a:srgbClr val="5B5F71"/>
                </a:solidFill>
                <a:latin typeface="Arimo"/>
                <a:ea typeface="Arimo"/>
                <a:cs typeface="Arimo"/>
                <a:sym typeface="Arimo"/>
              </a:rPr>
              <a:t>Financiamiento, analítica de comportamiento, optimización de conversión y gestión de fidelización.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4558608" y="4282159"/>
            <a:ext cx="3487636" cy="3234301"/>
            <a:chOff x="0" y="0"/>
            <a:chExt cx="4650181" cy="431240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19050" y="24395"/>
              <a:ext cx="4612132" cy="4263676"/>
            </a:xfrm>
            <a:custGeom>
              <a:avLst/>
              <a:gdLst/>
              <a:ahLst/>
              <a:cxnLst/>
              <a:rect r="r" b="b" t="t" l="l"/>
              <a:pathLst>
                <a:path h="4263676" w="4612132">
                  <a:moveTo>
                    <a:pt x="0" y="234197"/>
                  </a:moveTo>
                  <a:cubicBezTo>
                    <a:pt x="0" y="104901"/>
                    <a:pt x="82169" y="0"/>
                    <a:pt x="183515" y="0"/>
                  </a:cubicBezTo>
                  <a:lnTo>
                    <a:pt x="4428617" y="0"/>
                  </a:lnTo>
                  <a:cubicBezTo>
                    <a:pt x="4529963" y="0"/>
                    <a:pt x="4612132" y="104901"/>
                    <a:pt x="4612132" y="234197"/>
                  </a:cubicBezTo>
                  <a:lnTo>
                    <a:pt x="4612132" y="4029480"/>
                  </a:lnTo>
                  <a:cubicBezTo>
                    <a:pt x="4612132" y="4158776"/>
                    <a:pt x="4529963" y="4263677"/>
                    <a:pt x="4428617" y="4263677"/>
                  </a:cubicBezTo>
                  <a:lnTo>
                    <a:pt x="183515" y="4263677"/>
                  </a:lnTo>
                  <a:cubicBezTo>
                    <a:pt x="82169" y="4263677"/>
                    <a:pt x="0" y="4158776"/>
                    <a:pt x="0" y="4029480"/>
                  </a:cubicBez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650232" cy="4312453"/>
            </a:xfrm>
            <a:custGeom>
              <a:avLst/>
              <a:gdLst/>
              <a:ahLst/>
              <a:cxnLst/>
              <a:rect r="r" b="b" t="t" l="l"/>
              <a:pathLst>
                <a:path h="4312453" w="4650232">
                  <a:moveTo>
                    <a:pt x="0" y="258592"/>
                  </a:moveTo>
                  <a:cubicBezTo>
                    <a:pt x="0" y="115634"/>
                    <a:pt x="90678" y="0"/>
                    <a:pt x="202565" y="0"/>
                  </a:cubicBezTo>
                  <a:lnTo>
                    <a:pt x="4447667" y="0"/>
                  </a:lnTo>
                  <a:lnTo>
                    <a:pt x="4447667" y="24395"/>
                  </a:lnTo>
                  <a:lnTo>
                    <a:pt x="4447667" y="0"/>
                  </a:lnTo>
                  <a:cubicBezTo>
                    <a:pt x="4559427" y="0"/>
                    <a:pt x="4650232" y="115634"/>
                    <a:pt x="4650232" y="258592"/>
                  </a:cubicBezTo>
                  <a:lnTo>
                    <a:pt x="4631182" y="258592"/>
                  </a:lnTo>
                  <a:lnTo>
                    <a:pt x="4650232" y="258592"/>
                  </a:lnTo>
                  <a:lnTo>
                    <a:pt x="4650232" y="4053875"/>
                  </a:lnTo>
                  <a:lnTo>
                    <a:pt x="4631182" y="4053875"/>
                  </a:lnTo>
                  <a:lnTo>
                    <a:pt x="4650232" y="4053875"/>
                  </a:lnTo>
                  <a:cubicBezTo>
                    <a:pt x="4650232" y="4196832"/>
                    <a:pt x="4559554" y="4312453"/>
                    <a:pt x="4447667" y="4312453"/>
                  </a:cubicBezTo>
                  <a:lnTo>
                    <a:pt x="4447667" y="4288072"/>
                  </a:lnTo>
                  <a:lnTo>
                    <a:pt x="4447667" y="4312453"/>
                  </a:lnTo>
                  <a:lnTo>
                    <a:pt x="202565" y="4312453"/>
                  </a:lnTo>
                  <a:lnTo>
                    <a:pt x="202565" y="4288072"/>
                  </a:lnTo>
                  <a:lnTo>
                    <a:pt x="202565" y="4312453"/>
                  </a:lnTo>
                  <a:cubicBezTo>
                    <a:pt x="90805" y="4312453"/>
                    <a:pt x="0" y="4196832"/>
                    <a:pt x="0" y="4053875"/>
                  </a:cubicBezTo>
                  <a:lnTo>
                    <a:pt x="0" y="258592"/>
                  </a:lnTo>
                  <a:lnTo>
                    <a:pt x="19050" y="258592"/>
                  </a:lnTo>
                  <a:lnTo>
                    <a:pt x="0" y="258592"/>
                  </a:lnTo>
                  <a:moveTo>
                    <a:pt x="38100" y="258592"/>
                  </a:moveTo>
                  <a:lnTo>
                    <a:pt x="38100" y="4053875"/>
                  </a:lnTo>
                  <a:lnTo>
                    <a:pt x="19050" y="4053875"/>
                  </a:lnTo>
                  <a:lnTo>
                    <a:pt x="38100" y="4053875"/>
                  </a:lnTo>
                  <a:cubicBezTo>
                    <a:pt x="38100" y="4169672"/>
                    <a:pt x="111633" y="4263676"/>
                    <a:pt x="202565" y="4263676"/>
                  </a:cubicBezTo>
                  <a:lnTo>
                    <a:pt x="4447667" y="4263676"/>
                  </a:lnTo>
                  <a:cubicBezTo>
                    <a:pt x="4538472" y="4263676"/>
                    <a:pt x="4612132" y="4169672"/>
                    <a:pt x="4612132" y="4053875"/>
                  </a:cubicBezTo>
                  <a:lnTo>
                    <a:pt x="4612132" y="258592"/>
                  </a:lnTo>
                  <a:cubicBezTo>
                    <a:pt x="4612132" y="142795"/>
                    <a:pt x="4538599" y="48791"/>
                    <a:pt x="4447667" y="48791"/>
                  </a:cubicBezTo>
                  <a:lnTo>
                    <a:pt x="202565" y="48791"/>
                  </a:lnTo>
                  <a:lnTo>
                    <a:pt x="202565" y="24395"/>
                  </a:lnTo>
                  <a:lnTo>
                    <a:pt x="202565" y="48791"/>
                  </a:lnTo>
                  <a:cubicBezTo>
                    <a:pt x="111633" y="48791"/>
                    <a:pt x="38100" y="142795"/>
                    <a:pt x="38100" y="258592"/>
                  </a:cubicBezTo>
                  <a:close/>
                </a:path>
              </a:pathLst>
            </a:custGeom>
            <a:solidFill>
              <a:srgbClr val="C8C9CF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4880524" y="4500455"/>
            <a:ext cx="2222500" cy="4032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4"/>
              </a:lnSpc>
            </a:pPr>
            <a:r>
              <a:rPr lang="en-US" sz="2499" b="true">
                <a:solidFill>
                  <a:srgbClr val="5B5F71"/>
                </a:solidFill>
                <a:latin typeface="Arimo Bold"/>
                <a:ea typeface="Arimo Bold"/>
                <a:cs typeface="Arimo Bold"/>
                <a:sym typeface="Arimo Bold"/>
              </a:rPr>
              <a:t>Consumidores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909099" y="4967923"/>
            <a:ext cx="2900953" cy="21626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3"/>
              </a:lnSpc>
            </a:pPr>
            <a:r>
              <a:rPr lang="en-US" sz="2000">
                <a:solidFill>
                  <a:srgbClr val="5B5F71"/>
                </a:solidFill>
                <a:latin typeface="Arimo"/>
                <a:ea typeface="Arimo"/>
                <a:cs typeface="Arimo"/>
                <a:sym typeface="Arimo"/>
              </a:rPr>
              <a:t>Wallet digital, recomendaciones personalizadas y servicios financieros embebidos en su experiencia de pago.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54434" y="7867471"/>
            <a:ext cx="2805576" cy="4032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4"/>
              </a:lnSpc>
            </a:pPr>
            <a:r>
              <a:rPr lang="en-US" b="true" sz="2499">
                <a:solidFill>
                  <a:srgbClr val="E35099"/>
                </a:solidFill>
                <a:latin typeface="Arimo Bold"/>
                <a:ea typeface="Arimo Bold"/>
                <a:cs typeface="Arimo Bold"/>
                <a:sym typeface="Arimo Bold"/>
              </a:rPr>
              <a:t>Masa crítica inicial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54434" y="8337330"/>
            <a:ext cx="7091810" cy="10766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01625" indent="-150813" lvl="1">
              <a:lnSpc>
                <a:spcPts val="2923"/>
              </a:lnSpc>
              <a:buFont typeface="Arial"/>
              <a:buChar char="•"/>
            </a:pPr>
            <a:r>
              <a:rPr lang="en-US" sz="2000">
                <a:solidFill>
                  <a:srgbClr val="5B5F71"/>
                </a:solidFill>
                <a:latin typeface="Arimo"/>
                <a:ea typeface="Arimo"/>
                <a:cs typeface="Arimo"/>
                <a:sym typeface="Arimo"/>
              </a:rPr>
              <a:t>Incentivos económicos para adopción temprana</a:t>
            </a:r>
          </a:p>
          <a:p>
            <a:pPr algn="l" marL="301625" indent="-150813" lvl="1">
              <a:lnSpc>
                <a:spcPts val="2923"/>
              </a:lnSpc>
              <a:buFont typeface="Arial"/>
              <a:buChar char="•"/>
            </a:pPr>
            <a:r>
              <a:rPr lang="en-US" sz="2000">
                <a:solidFill>
                  <a:srgbClr val="5B5F71"/>
                </a:solidFill>
                <a:latin typeface="Arimo"/>
                <a:ea typeface="Arimo"/>
                <a:cs typeface="Arimo"/>
                <a:sym typeface="Arimo"/>
              </a:rPr>
              <a:t>Alianzas estratégicas con grandes cadenas</a:t>
            </a:r>
          </a:p>
          <a:p>
            <a:pPr algn="l" marL="301625" indent="-150813" lvl="1">
              <a:lnSpc>
                <a:spcPts val="2923"/>
              </a:lnSpc>
              <a:buFont typeface="Arial"/>
              <a:buChar char="•"/>
            </a:pPr>
            <a:r>
              <a:rPr lang="en-US" sz="2000">
                <a:solidFill>
                  <a:srgbClr val="5B5F71"/>
                </a:solidFill>
                <a:latin typeface="Arimo"/>
                <a:ea typeface="Arimo"/>
                <a:cs typeface="Arimo"/>
                <a:sym typeface="Arimo"/>
              </a:rPr>
              <a:t>Integración con ecosistemas digitales existentes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8562384" y="3101283"/>
            <a:ext cx="8780412" cy="4900612"/>
            <a:chOff x="0" y="0"/>
            <a:chExt cx="11707216" cy="6534150"/>
          </a:xfrm>
        </p:grpSpPr>
        <p:sp>
          <p:nvSpPr>
            <p:cNvPr name="Freeform 18" id="18" descr="preencoded.png"/>
            <p:cNvSpPr/>
            <p:nvPr/>
          </p:nvSpPr>
          <p:spPr>
            <a:xfrm flipH="false" flipV="false" rot="0">
              <a:off x="0" y="0"/>
              <a:ext cx="11707241" cy="6534150"/>
            </a:xfrm>
            <a:custGeom>
              <a:avLst/>
              <a:gdLst/>
              <a:ahLst/>
              <a:cxnLst/>
              <a:rect r="r" b="b" t="t" l="l"/>
              <a:pathLst>
                <a:path h="6534150" w="11707241">
                  <a:moveTo>
                    <a:pt x="0" y="0"/>
                  </a:moveTo>
                  <a:lnTo>
                    <a:pt x="11707241" y="0"/>
                  </a:lnTo>
                  <a:lnTo>
                    <a:pt x="11707241" y="6534150"/>
                  </a:lnTo>
                  <a:lnTo>
                    <a:pt x="0" y="65341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9" r="0" b="-39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8562384" y="3101283"/>
            <a:ext cx="8780412" cy="4900612"/>
            <a:chOff x="0" y="0"/>
            <a:chExt cx="11707216" cy="6534150"/>
          </a:xfrm>
        </p:grpSpPr>
        <p:sp>
          <p:nvSpPr>
            <p:cNvPr name="Freeform 20" id="20" descr="preencoded.png"/>
            <p:cNvSpPr/>
            <p:nvPr/>
          </p:nvSpPr>
          <p:spPr>
            <a:xfrm flipH="false" flipV="false" rot="0">
              <a:off x="0" y="0"/>
              <a:ext cx="11707241" cy="6534150"/>
            </a:xfrm>
            <a:custGeom>
              <a:avLst/>
              <a:gdLst/>
              <a:ahLst/>
              <a:cxnLst/>
              <a:rect r="r" b="b" t="t" l="l"/>
              <a:pathLst>
                <a:path h="6534150" w="11707241">
                  <a:moveTo>
                    <a:pt x="0" y="0"/>
                  </a:moveTo>
                  <a:lnTo>
                    <a:pt x="11707241" y="0"/>
                  </a:lnTo>
                  <a:lnTo>
                    <a:pt x="11707241" y="6534150"/>
                  </a:lnTo>
                  <a:lnTo>
                    <a:pt x="0" y="65341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39" r="0" b="-39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8978902" y="8394480"/>
            <a:ext cx="8605291" cy="1059678"/>
            <a:chOff x="0" y="0"/>
            <a:chExt cx="11473721" cy="1412904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1473748" cy="1412942"/>
            </a:xfrm>
            <a:custGeom>
              <a:avLst/>
              <a:gdLst/>
              <a:ahLst/>
              <a:cxnLst/>
              <a:rect r="r" b="b" t="t" l="l"/>
              <a:pathLst>
                <a:path h="1412942" w="11473748">
                  <a:moveTo>
                    <a:pt x="0" y="155842"/>
                  </a:moveTo>
                  <a:cubicBezTo>
                    <a:pt x="0" y="69755"/>
                    <a:pt x="27357" y="0"/>
                    <a:pt x="61119" y="0"/>
                  </a:cubicBezTo>
                  <a:lnTo>
                    <a:pt x="11412616" y="0"/>
                  </a:lnTo>
                  <a:cubicBezTo>
                    <a:pt x="11446378" y="0"/>
                    <a:pt x="11473748" y="69755"/>
                    <a:pt x="11473748" y="155842"/>
                  </a:cubicBezTo>
                  <a:lnTo>
                    <a:pt x="11473748" y="1257113"/>
                  </a:lnTo>
                  <a:cubicBezTo>
                    <a:pt x="11473748" y="1343200"/>
                    <a:pt x="11446378" y="1412942"/>
                    <a:pt x="11412616" y="1412942"/>
                  </a:cubicBezTo>
                  <a:lnTo>
                    <a:pt x="61119" y="1412942"/>
                  </a:lnTo>
                  <a:cubicBezTo>
                    <a:pt x="27357" y="1412942"/>
                    <a:pt x="0" y="1343200"/>
                    <a:pt x="0" y="1257113"/>
                  </a:cubicBezTo>
                  <a:close/>
                </a:path>
              </a:pathLst>
            </a:custGeom>
            <a:solidFill>
              <a:srgbClr val="D4D5DE"/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9196428" y="8562958"/>
            <a:ext cx="7885426" cy="714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3"/>
              </a:lnSpc>
            </a:pPr>
            <a:r>
              <a:rPr lang="en-US" sz="2000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Insight clave:</a:t>
            </a:r>
            <a:r>
              <a:rPr lang="en-US" sz="20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"El valor de la plataforma crece exponencialmente con cada nuevo participante — los efectos de red son el verdadero moat."</a:t>
            </a:r>
          </a:p>
        </p:txBody>
      </p:sp>
      <p:sp>
        <p:nvSpPr>
          <p:cNvPr name="Freeform 24" id="24"/>
          <p:cNvSpPr/>
          <p:nvPr/>
        </p:nvSpPr>
        <p:spPr>
          <a:xfrm flipH="false" flipV="false" rot="0">
            <a:off x="16131635" y="0"/>
            <a:ext cx="2127619" cy="1418413"/>
          </a:xfrm>
          <a:custGeom>
            <a:avLst/>
            <a:gdLst/>
            <a:ahLst/>
            <a:cxnLst/>
            <a:rect r="r" b="b" t="t" l="l"/>
            <a:pathLst>
              <a:path h="1418413" w="2127619">
                <a:moveTo>
                  <a:pt x="0" y="0"/>
                </a:moveTo>
                <a:lnTo>
                  <a:pt x="2127619" y="0"/>
                </a:lnTo>
                <a:lnTo>
                  <a:pt x="2127619" y="1418413"/>
                </a:lnTo>
                <a:lnTo>
                  <a:pt x="0" y="141841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92238" y="805758"/>
            <a:ext cx="16218876" cy="10773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32"/>
              </a:lnSpc>
            </a:pPr>
            <a:r>
              <a:rPr lang="en-US" b="true" sz="6699">
                <a:solidFill>
                  <a:srgbClr val="E35099"/>
                </a:solidFill>
                <a:latin typeface="Arimo Bold"/>
                <a:ea typeface="Arimo Bold"/>
                <a:cs typeface="Arimo Bold"/>
                <a:sym typeface="Arimo Bold"/>
              </a:rPr>
              <a:t>Evaluación Estratégica de la Innovación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92238" y="2048323"/>
            <a:ext cx="16303523" cy="8000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5"/>
              </a:lnSpc>
            </a:pPr>
            <a:r>
              <a:rPr lang="en-US" sz="2000">
                <a:solidFill>
                  <a:srgbClr val="5B5F71"/>
                </a:solidFill>
                <a:latin typeface="Arimo"/>
                <a:ea typeface="Arimo"/>
                <a:cs typeface="Arimo"/>
                <a:sym typeface="Arimo"/>
              </a:rPr>
              <a:t>La transformación hacia plataforma no es una mejora incremental — es un cambio de modelo de negocio que reconfigura la estructura de captura de valor en la industria de pagos chilena.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987476" y="3202191"/>
            <a:ext cx="5278641" cy="4496695"/>
            <a:chOff x="0" y="0"/>
            <a:chExt cx="7038188" cy="599559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6350" y="6350"/>
              <a:ext cx="7025386" cy="5982843"/>
            </a:xfrm>
            <a:custGeom>
              <a:avLst/>
              <a:gdLst/>
              <a:ahLst/>
              <a:cxnLst/>
              <a:rect r="r" b="b" t="t" l="l"/>
              <a:pathLst>
                <a:path h="5982843" w="7025386">
                  <a:moveTo>
                    <a:pt x="0" y="138938"/>
                  </a:moveTo>
                  <a:cubicBezTo>
                    <a:pt x="0" y="62230"/>
                    <a:pt x="62230" y="0"/>
                    <a:pt x="138938" y="0"/>
                  </a:cubicBezTo>
                  <a:lnTo>
                    <a:pt x="6886448" y="0"/>
                  </a:lnTo>
                  <a:cubicBezTo>
                    <a:pt x="6963156" y="0"/>
                    <a:pt x="7025386" y="62230"/>
                    <a:pt x="7025386" y="138938"/>
                  </a:cubicBezTo>
                  <a:lnTo>
                    <a:pt x="7025386" y="5843905"/>
                  </a:lnTo>
                  <a:cubicBezTo>
                    <a:pt x="7025386" y="5920613"/>
                    <a:pt x="6963156" y="5982843"/>
                    <a:pt x="6886448" y="5982843"/>
                  </a:cubicBezTo>
                  <a:lnTo>
                    <a:pt x="138938" y="5982843"/>
                  </a:lnTo>
                  <a:cubicBezTo>
                    <a:pt x="62230" y="5982843"/>
                    <a:pt x="0" y="5920740"/>
                    <a:pt x="0" y="5843905"/>
                  </a:cubicBezTo>
                  <a:close/>
                </a:path>
              </a:pathLst>
            </a:custGeom>
            <a:solidFill>
              <a:srgbClr val="E2E3E9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038086" cy="5995543"/>
            </a:xfrm>
            <a:custGeom>
              <a:avLst/>
              <a:gdLst/>
              <a:ahLst/>
              <a:cxnLst/>
              <a:rect r="r" b="b" t="t" l="l"/>
              <a:pathLst>
                <a:path h="5995543" w="7038086">
                  <a:moveTo>
                    <a:pt x="0" y="145288"/>
                  </a:moveTo>
                  <a:cubicBezTo>
                    <a:pt x="0" y="65024"/>
                    <a:pt x="65024" y="0"/>
                    <a:pt x="145288" y="0"/>
                  </a:cubicBezTo>
                  <a:lnTo>
                    <a:pt x="6892798" y="0"/>
                  </a:lnTo>
                  <a:lnTo>
                    <a:pt x="6892798" y="6350"/>
                  </a:lnTo>
                  <a:lnTo>
                    <a:pt x="6892798" y="0"/>
                  </a:lnTo>
                  <a:cubicBezTo>
                    <a:pt x="6973062" y="0"/>
                    <a:pt x="7038086" y="65024"/>
                    <a:pt x="7038086" y="145288"/>
                  </a:cubicBezTo>
                  <a:lnTo>
                    <a:pt x="7031736" y="145288"/>
                  </a:lnTo>
                  <a:lnTo>
                    <a:pt x="7038086" y="145288"/>
                  </a:lnTo>
                  <a:lnTo>
                    <a:pt x="7038086" y="5850255"/>
                  </a:lnTo>
                  <a:lnTo>
                    <a:pt x="7031736" y="5850255"/>
                  </a:lnTo>
                  <a:lnTo>
                    <a:pt x="7038086" y="5850255"/>
                  </a:lnTo>
                  <a:cubicBezTo>
                    <a:pt x="7038086" y="5930519"/>
                    <a:pt x="6973062" y="5995543"/>
                    <a:pt x="6892798" y="5995543"/>
                  </a:cubicBezTo>
                  <a:lnTo>
                    <a:pt x="6892798" y="5989193"/>
                  </a:lnTo>
                  <a:lnTo>
                    <a:pt x="6892798" y="5995543"/>
                  </a:lnTo>
                  <a:lnTo>
                    <a:pt x="145288" y="5995543"/>
                  </a:lnTo>
                  <a:lnTo>
                    <a:pt x="145288" y="5989193"/>
                  </a:lnTo>
                  <a:lnTo>
                    <a:pt x="145288" y="5995543"/>
                  </a:lnTo>
                  <a:cubicBezTo>
                    <a:pt x="65024" y="5995543"/>
                    <a:pt x="0" y="5930519"/>
                    <a:pt x="0" y="5850255"/>
                  </a:cubicBezTo>
                  <a:lnTo>
                    <a:pt x="0" y="145288"/>
                  </a:lnTo>
                  <a:lnTo>
                    <a:pt x="6350" y="145288"/>
                  </a:lnTo>
                  <a:lnTo>
                    <a:pt x="0" y="145288"/>
                  </a:lnTo>
                  <a:moveTo>
                    <a:pt x="12700" y="145288"/>
                  </a:moveTo>
                  <a:lnTo>
                    <a:pt x="12700" y="5850255"/>
                  </a:lnTo>
                  <a:lnTo>
                    <a:pt x="6350" y="5850255"/>
                  </a:lnTo>
                  <a:lnTo>
                    <a:pt x="12700" y="5850255"/>
                  </a:lnTo>
                  <a:cubicBezTo>
                    <a:pt x="12700" y="5923534"/>
                    <a:pt x="72009" y="5982843"/>
                    <a:pt x="145288" y="5982843"/>
                  </a:cubicBezTo>
                  <a:lnTo>
                    <a:pt x="6892798" y="5982843"/>
                  </a:lnTo>
                  <a:cubicBezTo>
                    <a:pt x="6966077" y="5982843"/>
                    <a:pt x="7025386" y="5923534"/>
                    <a:pt x="7025386" y="5850255"/>
                  </a:cubicBezTo>
                  <a:lnTo>
                    <a:pt x="7025386" y="145288"/>
                  </a:lnTo>
                  <a:cubicBezTo>
                    <a:pt x="7025513" y="72009"/>
                    <a:pt x="6966077" y="12700"/>
                    <a:pt x="6892925" y="12700"/>
                  </a:cubicBezTo>
                  <a:lnTo>
                    <a:pt x="145288" y="12700"/>
                  </a:lnTo>
                  <a:lnTo>
                    <a:pt x="145288" y="6350"/>
                  </a:lnTo>
                  <a:lnTo>
                    <a:pt x="145288" y="12700"/>
                  </a:lnTo>
                  <a:cubicBezTo>
                    <a:pt x="72009" y="12700"/>
                    <a:pt x="12700" y="72009"/>
                    <a:pt x="12700" y="145288"/>
                  </a:cubicBezTo>
                  <a:close/>
                </a:path>
              </a:pathLst>
            </a:custGeom>
            <a:solidFill>
              <a:srgbClr val="C8C9CF"/>
            </a:solidFill>
          </p:spPr>
        </p:sp>
      </p:grpSp>
      <p:sp>
        <p:nvSpPr>
          <p:cNvPr name="TextBox 7" id="7"/>
          <p:cNvSpPr txBox="true"/>
          <p:nvPr/>
        </p:nvSpPr>
        <p:spPr>
          <a:xfrm rot="0">
            <a:off x="1249709" y="3435848"/>
            <a:ext cx="3761383" cy="4184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00"/>
              </a:lnSpc>
            </a:pPr>
            <a:r>
              <a:rPr lang="en-US" b="true" sz="2600">
                <a:solidFill>
                  <a:srgbClr val="40BAE9"/>
                </a:solidFill>
                <a:latin typeface="Arimo Bold"/>
                <a:ea typeface="Arimo Bold"/>
                <a:cs typeface="Arimo Bold"/>
                <a:sym typeface="Arimo Bold"/>
              </a:rPr>
              <a:t>¿Por qué es disruptiva?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40184" y="4396317"/>
            <a:ext cx="4754166" cy="2438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01625" indent="-150813" lvl="1">
              <a:lnSpc>
                <a:spcPts val="3225"/>
              </a:lnSpc>
              <a:buFont typeface="Arial"/>
              <a:buChar char="•"/>
            </a:pPr>
            <a:r>
              <a:rPr lang="en-US" sz="2000">
                <a:solidFill>
                  <a:srgbClr val="5B5F71"/>
                </a:solidFill>
                <a:latin typeface="Arimo"/>
                <a:ea typeface="Arimo"/>
                <a:cs typeface="Arimo"/>
                <a:sym typeface="Arimo"/>
              </a:rPr>
              <a:t>Cambia el modelo de transaccional a plataforma</a:t>
            </a:r>
          </a:p>
          <a:p>
            <a:pPr algn="l" marL="301625" indent="-150813" lvl="1">
              <a:lnSpc>
                <a:spcPts val="3225"/>
              </a:lnSpc>
              <a:buFont typeface="Arial"/>
              <a:buChar char="•"/>
            </a:pPr>
            <a:r>
              <a:rPr lang="en-US" sz="2000">
                <a:solidFill>
                  <a:srgbClr val="5B5F71"/>
                </a:solidFill>
                <a:latin typeface="Arimo"/>
                <a:ea typeface="Arimo"/>
                <a:cs typeface="Arimo"/>
                <a:sym typeface="Arimo"/>
              </a:rPr>
              <a:t>Reconfigura quién captura el valor en la cadena</a:t>
            </a:r>
          </a:p>
          <a:p>
            <a:pPr algn="l" marL="301625" indent="-150813" lvl="1">
              <a:lnSpc>
                <a:spcPts val="3225"/>
              </a:lnSpc>
              <a:buFont typeface="Arial"/>
              <a:buChar char="•"/>
            </a:pPr>
            <a:r>
              <a:rPr lang="en-US" sz="2000">
                <a:solidFill>
                  <a:srgbClr val="5B5F71"/>
                </a:solidFill>
                <a:latin typeface="Arimo"/>
                <a:ea typeface="Arimo"/>
                <a:cs typeface="Arimo"/>
                <a:sym typeface="Arimo"/>
              </a:rPr>
              <a:t>Convierte a Transbank en infraestructura del ecosistema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6504537" y="3202191"/>
            <a:ext cx="5278784" cy="4496695"/>
            <a:chOff x="0" y="0"/>
            <a:chExt cx="7038378" cy="599559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6350" y="6350"/>
              <a:ext cx="7025640" cy="5982843"/>
            </a:xfrm>
            <a:custGeom>
              <a:avLst/>
              <a:gdLst/>
              <a:ahLst/>
              <a:cxnLst/>
              <a:rect r="r" b="b" t="t" l="l"/>
              <a:pathLst>
                <a:path h="5982843" w="7025640">
                  <a:moveTo>
                    <a:pt x="0" y="138938"/>
                  </a:moveTo>
                  <a:cubicBezTo>
                    <a:pt x="0" y="62230"/>
                    <a:pt x="62230" y="0"/>
                    <a:pt x="138938" y="0"/>
                  </a:cubicBezTo>
                  <a:lnTo>
                    <a:pt x="6886702" y="0"/>
                  </a:lnTo>
                  <a:cubicBezTo>
                    <a:pt x="6963410" y="0"/>
                    <a:pt x="7025640" y="62230"/>
                    <a:pt x="7025640" y="138938"/>
                  </a:cubicBezTo>
                  <a:lnTo>
                    <a:pt x="7025640" y="5843905"/>
                  </a:lnTo>
                  <a:cubicBezTo>
                    <a:pt x="7025640" y="5920613"/>
                    <a:pt x="6963410" y="5982843"/>
                    <a:pt x="6886702" y="5982843"/>
                  </a:cubicBezTo>
                  <a:lnTo>
                    <a:pt x="138938" y="5982843"/>
                  </a:lnTo>
                  <a:cubicBezTo>
                    <a:pt x="62230" y="5982843"/>
                    <a:pt x="0" y="5920740"/>
                    <a:pt x="0" y="5843905"/>
                  </a:cubicBezTo>
                  <a:close/>
                </a:path>
              </a:pathLst>
            </a:custGeom>
            <a:solidFill>
              <a:srgbClr val="E2E3E9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038340" cy="5995543"/>
            </a:xfrm>
            <a:custGeom>
              <a:avLst/>
              <a:gdLst/>
              <a:ahLst/>
              <a:cxnLst/>
              <a:rect r="r" b="b" t="t" l="l"/>
              <a:pathLst>
                <a:path h="5995543" w="7038340">
                  <a:moveTo>
                    <a:pt x="0" y="145288"/>
                  </a:moveTo>
                  <a:cubicBezTo>
                    <a:pt x="0" y="65024"/>
                    <a:pt x="65024" y="0"/>
                    <a:pt x="145288" y="0"/>
                  </a:cubicBezTo>
                  <a:lnTo>
                    <a:pt x="6893052" y="0"/>
                  </a:lnTo>
                  <a:lnTo>
                    <a:pt x="6893052" y="6350"/>
                  </a:lnTo>
                  <a:lnTo>
                    <a:pt x="6893052" y="0"/>
                  </a:lnTo>
                  <a:cubicBezTo>
                    <a:pt x="6973316" y="0"/>
                    <a:pt x="7038340" y="65024"/>
                    <a:pt x="7038340" y="145288"/>
                  </a:cubicBezTo>
                  <a:lnTo>
                    <a:pt x="7031990" y="145288"/>
                  </a:lnTo>
                  <a:lnTo>
                    <a:pt x="7038340" y="145288"/>
                  </a:lnTo>
                  <a:lnTo>
                    <a:pt x="7038340" y="5850255"/>
                  </a:lnTo>
                  <a:lnTo>
                    <a:pt x="7031990" y="5850255"/>
                  </a:lnTo>
                  <a:lnTo>
                    <a:pt x="7038340" y="5850255"/>
                  </a:lnTo>
                  <a:cubicBezTo>
                    <a:pt x="7038340" y="5930519"/>
                    <a:pt x="6973316" y="5995543"/>
                    <a:pt x="6893052" y="5995543"/>
                  </a:cubicBezTo>
                  <a:lnTo>
                    <a:pt x="6893052" y="5989193"/>
                  </a:lnTo>
                  <a:lnTo>
                    <a:pt x="6893052" y="5995543"/>
                  </a:lnTo>
                  <a:lnTo>
                    <a:pt x="145288" y="5995543"/>
                  </a:lnTo>
                  <a:lnTo>
                    <a:pt x="145288" y="5989193"/>
                  </a:lnTo>
                  <a:lnTo>
                    <a:pt x="145288" y="5995543"/>
                  </a:lnTo>
                  <a:cubicBezTo>
                    <a:pt x="65024" y="5995543"/>
                    <a:pt x="0" y="5930519"/>
                    <a:pt x="0" y="5850255"/>
                  </a:cubicBezTo>
                  <a:lnTo>
                    <a:pt x="0" y="145288"/>
                  </a:lnTo>
                  <a:lnTo>
                    <a:pt x="6350" y="145288"/>
                  </a:lnTo>
                  <a:lnTo>
                    <a:pt x="0" y="145288"/>
                  </a:lnTo>
                  <a:moveTo>
                    <a:pt x="12700" y="145288"/>
                  </a:moveTo>
                  <a:lnTo>
                    <a:pt x="12700" y="5850255"/>
                  </a:lnTo>
                  <a:lnTo>
                    <a:pt x="6350" y="5850255"/>
                  </a:lnTo>
                  <a:lnTo>
                    <a:pt x="12700" y="5850255"/>
                  </a:lnTo>
                  <a:cubicBezTo>
                    <a:pt x="12700" y="5923534"/>
                    <a:pt x="72136" y="5982843"/>
                    <a:pt x="145288" y="5982843"/>
                  </a:cubicBezTo>
                  <a:lnTo>
                    <a:pt x="6893052" y="5982843"/>
                  </a:lnTo>
                  <a:cubicBezTo>
                    <a:pt x="6966331" y="5982843"/>
                    <a:pt x="7025640" y="5923534"/>
                    <a:pt x="7025640" y="5850255"/>
                  </a:cubicBezTo>
                  <a:lnTo>
                    <a:pt x="7025640" y="145288"/>
                  </a:lnTo>
                  <a:cubicBezTo>
                    <a:pt x="7025640" y="72009"/>
                    <a:pt x="6966331" y="12700"/>
                    <a:pt x="6893052" y="12700"/>
                  </a:cubicBezTo>
                  <a:lnTo>
                    <a:pt x="145288" y="12700"/>
                  </a:lnTo>
                  <a:lnTo>
                    <a:pt x="145288" y="6350"/>
                  </a:lnTo>
                  <a:lnTo>
                    <a:pt x="145288" y="12700"/>
                  </a:lnTo>
                  <a:cubicBezTo>
                    <a:pt x="72136" y="12700"/>
                    <a:pt x="12700" y="72009"/>
                    <a:pt x="12700" y="145288"/>
                  </a:cubicBezTo>
                  <a:close/>
                </a:path>
              </a:pathLst>
            </a:custGeom>
            <a:solidFill>
              <a:srgbClr val="C8C9CF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6766770" y="3415943"/>
            <a:ext cx="4635405" cy="8184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00"/>
              </a:lnSpc>
            </a:pPr>
            <a:r>
              <a:rPr lang="en-US" b="true" sz="2600">
                <a:solidFill>
                  <a:srgbClr val="40BAE9"/>
                </a:solidFill>
                <a:latin typeface="Arimo Bold"/>
                <a:ea typeface="Arimo Bold"/>
                <a:cs typeface="Arimo Bold"/>
                <a:sym typeface="Arimo Bold"/>
              </a:rPr>
              <a:t>¿Cómo se construye la ventaja?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724517" y="4396317"/>
            <a:ext cx="4940934" cy="26530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86545" indent="-143272" lvl="1">
              <a:lnSpc>
                <a:spcPts val="3064"/>
              </a:lnSpc>
              <a:buFont typeface="Arial"/>
              <a:buChar char="•"/>
            </a:pPr>
            <a:r>
              <a:rPr lang="en-US" sz="1900">
                <a:solidFill>
                  <a:srgbClr val="5B5F71"/>
                </a:solidFill>
                <a:latin typeface="Arimo"/>
                <a:ea typeface="Arimo"/>
                <a:cs typeface="Arimo"/>
                <a:sym typeface="Arimo"/>
              </a:rPr>
              <a:t>Escala de red preexistente (comercios y bancos)</a:t>
            </a:r>
          </a:p>
          <a:p>
            <a:pPr algn="l" marL="286545" indent="-143272" lvl="1">
              <a:lnSpc>
                <a:spcPts val="3064"/>
              </a:lnSpc>
              <a:buFont typeface="Arial"/>
              <a:buChar char="•"/>
            </a:pPr>
            <a:r>
              <a:rPr lang="en-US" sz="1900">
                <a:solidFill>
                  <a:srgbClr val="5B5F71"/>
                </a:solidFill>
                <a:latin typeface="Arimo"/>
                <a:ea typeface="Arimo"/>
                <a:cs typeface="Arimo"/>
                <a:sym typeface="Arimo"/>
              </a:rPr>
              <a:t>Datos transaccionales únicos e irrepetibles</a:t>
            </a:r>
          </a:p>
          <a:p>
            <a:pPr algn="l" marL="286545" indent="-143272" lvl="1">
              <a:lnSpc>
                <a:spcPts val="3064"/>
              </a:lnSpc>
              <a:buFont typeface="Arial"/>
              <a:buChar char="•"/>
            </a:pPr>
            <a:r>
              <a:rPr lang="en-US" sz="1900">
                <a:solidFill>
                  <a:srgbClr val="5B5F71"/>
                </a:solidFill>
                <a:latin typeface="Arimo"/>
                <a:ea typeface="Arimo"/>
                <a:cs typeface="Arimo"/>
                <a:sym typeface="Arimo"/>
              </a:rPr>
              <a:t>Infraestructura instalada y relaciones de confianza</a:t>
            </a:r>
          </a:p>
          <a:p>
            <a:pPr algn="l" marL="286545" indent="-143272" lvl="1">
              <a:lnSpc>
                <a:spcPts val="3064"/>
              </a:lnSpc>
              <a:buFont typeface="Arial"/>
              <a:buChar char="•"/>
            </a:pPr>
            <a:r>
              <a:rPr lang="en-US" sz="1900">
                <a:solidFill>
                  <a:srgbClr val="5B5F71"/>
                </a:solidFill>
                <a:latin typeface="Arimo"/>
                <a:ea typeface="Arimo"/>
                <a:cs typeface="Arimo"/>
                <a:sym typeface="Arimo"/>
              </a:rPr>
              <a:t>Efectos de red acumulativos difíciles de replicar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2021741" y="3202191"/>
            <a:ext cx="5278641" cy="4496695"/>
            <a:chOff x="0" y="0"/>
            <a:chExt cx="7038188" cy="599559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6350" y="6350"/>
              <a:ext cx="7025386" cy="5982843"/>
            </a:xfrm>
            <a:custGeom>
              <a:avLst/>
              <a:gdLst/>
              <a:ahLst/>
              <a:cxnLst/>
              <a:rect r="r" b="b" t="t" l="l"/>
              <a:pathLst>
                <a:path h="5982843" w="7025386">
                  <a:moveTo>
                    <a:pt x="0" y="138938"/>
                  </a:moveTo>
                  <a:cubicBezTo>
                    <a:pt x="0" y="62230"/>
                    <a:pt x="62230" y="0"/>
                    <a:pt x="138938" y="0"/>
                  </a:cubicBezTo>
                  <a:lnTo>
                    <a:pt x="6886448" y="0"/>
                  </a:lnTo>
                  <a:cubicBezTo>
                    <a:pt x="6963156" y="0"/>
                    <a:pt x="7025386" y="62230"/>
                    <a:pt x="7025386" y="138938"/>
                  </a:cubicBezTo>
                  <a:lnTo>
                    <a:pt x="7025386" y="5843905"/>
                  </a:lnTo>
                  <a:cubicBezTo>
                    <a:pt x="7025386" y="5920613"/>
                    <a:pt x="6963156" y="5982843"/>
                    <a:pt x="6886448" y="5982843"/>
                  </a:cubicBezTo>
                  <a:lnTo>
                    <a:pt x="138938" y="5982843"/>
                  </a:lnTo>
                  <a:cubicBezTo>
                    <a:pt x="62230" y="5982843"/>
                    <a:pt x="0" y="5920740"/>
                    <a:pt x="0" y="5843905"/>
                  </a:cubicBezTo>
                  <a:close/>
                </a:path>
              </a:pathLst>
            </a:custGeom>
            <a:solidFill>
              <a:srgbClr val="E2E3E9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038086" cy="5995543"/>
            </a:xfrm>
            <a:custGeom>
              <a:avLst/>
              <a:gdLst/>
              <a:ahLst/>
              <a:cxnLst/>
              <a:rect r="r" b="b" t="t" l="l"/>
              <a:pathLst>
                <a:path h="5995543" w="7038086">
                  <a:moveTo>
                    <a:pt x="0" y="145288"/>
                  </a:moveTo>
                  <a:cubicBezTo>
                    <a:pt x="0" y="65024"/>
                    <a:pt x="65024" y="0"/>
                    <a:pt x="145288" y="0"/>
                  </a:cubicBezTo>
                  <a:lnTo>
                    <a:pt x="6892798" y="0"/>
                  </a:lnTo>
                  <a:lnTo>
                    <a:pt x="6892798" y="6350"/>
                  </a:lnTo>
                  <a:lnTo>
                    <a:pt x="6892798" y="0"/>
                  </a:lnTo>
                  <a:cubicBezTo>
                    <a:pt x="6973062" y="0"/>
                    <a:pt x="7038086" y="65024"/>
                    <a:pt x="7038086" y="145288"/>
                  </a:cubicBezTo>
                  <a:lnTo>
                    <a:pt x="7031736" y="145288"/>
                  </a:lnTo>
                  <a:lnTo>
                    <a:pt x="7038086" y="145288"/>
                  </a:lnTo>
                  <a:lnTo>
                    <a:pt x="7038086" y="5850255"/>
                  </a:lnTo>
                  <a:lnTo>
                    <a:pt x="7031736" y="5850255"/>
                  </a:lnTo>
                  <a:lnTo>
                    <a:pt x="7038086" y="5850255"/>
                  </a:lnTo>
                  <a:cubicBezTo>
                    <a:pt x="7038086" y="5930519"/>
                    <a:pt x="6973062" y="5995543"/>
                    <a:pt x="6892798" y="5995543"/>
                  </a:cubicBezTo>
                  <a:lnTo>
                    <a:pt x="6892798" y="5989193"/>
                  </a:lnTo>
                  <a:lnTo>
                    <a:pt x="6892798" y="5995543"/>
                  </a:lnTo>
                  <a:lnTo>
                    <a:pt x="145288" y="5995543"/>
                  </a:lnTo>
                  <a:lnTo>
                    <a:pt x="145288" y="5989193"/>
                  </a:lnTo>
                  <a:lnTo>
                    <a:pt x="145288" y="5995543"/>
                  </a:lnTo>
                  <a:cubicBezTo>
                    <a:pt x="65024" y="5995543"/>
                    <a:pt x="0" y="5930519"/>
                    <a:pt x="0" y="5850255"/>
                  </a:cubicBezTo>
                  <a:lnTo>
                    <a:pt x="0" y="145288"/>
                  </a:lnTo>
                  <a:lnTo>
                    <a:pt x="6350" y="145288"/>
                  </a:lnTo>
                  <a:lnTo>
                    <a:pt x="0" y="145288"/>
                  </a:lnTo>
                  <a:moveTo>
                    <a:pt x="12700" y="145288"/>
                  </a:moveTo>
                  <a:lnTo>
                    <a:pt x="12700" y="5850255"/>
                  </a:lnTo>
                  <a:lnTo>
                    <a:pt x="6350" y="5850255"/>
                  </a:lnTo>
                  <a:lnTo>
                    <a:pt x="12700" y="5850255"/>
                  </a:lnTo>
                  <a:cubicBezTo>
                    <a:pt x="12700" y="5923534"/>
                    <a:pt x="72009" y="5982843"/>
                    <a:pt x="145288" y="5982843"/>
                  </a:cubicBezTo>
                  <a:lnTo>
                    <a:pt x="6892798" y="5982843"/>
                  </a:lnTo>
                  <a:cubicBezTo>
                    <a:pt x="6966077" y="5982843"/>
                    <a:pt x="7025386" y="5923534"/>
                    <a:pt x="7025386" y="5850255"/>
                  </a:cubicBezTo>
                  <a:lnTo>
                    <a:pt x="7025386" y="145288"/>
                  </a:lnTo>
                  <a:cubicBezTo>
                    <a:pt x="7025513" y="72009"/>
                    <a:pt x="6966077" y="12700"/>
                    <a:pt x="6892925" y="12700"/>
                  </a:cubicBezTo>
                  <a:lnTo>
                    <a:pt x="145288" y="12700"/>
                  </a:lnTo>
                  <a:lnTo>
                    <a:pt x="145288" y="6350"/>
                  </a:lnTo>
                  <a:lnTo>
                    <a:pt x="145288" y="12700"/>
                  </a:lnTo>
                  <a:cubicBezTo>
                    <a:pt x="72009" y="12700"/>
                    <a:pt x="12700" y="72009"/>
                    <a:pt x="12700" y="145288"/>
                  </a:cubicBezTo>
                  <a:close/>
                </a:path>
              </a:pathLst>
            </a:custGeom>
            <a:solidFill>
              <a:srgbClr val="C8C9CF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2283973" y="3435848"/>
            <a:ext cx="3816532" cy="4184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00"/>
              </a:lnSpc>
            </a:pPr>
            <a:r>
              <a:rPr lang="en-US" b="true" sz="2600">
                <a:solidFill>
                  <a:srgbClr val="40BAE9"/>
                </a:solidFill>
                <a:latin typeface="Arimo Bold"/>
                <a:ea typeface="Arimo Bold"/>
                <a:cs typeface="Arimo Bold"/>
                <a:sym typeface="Arimo Bold"/>
              </a:rPr>
              <a:t>¿Por qué es sostenible?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283973" y="4396317"/>
            <a:ext cx="4754166" cy="2438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01625" indent="-150813" lvl="1">
              <a:lnSpc>
                <a:spcPts val="3225"/>
              </a:lnSpc>
              <a:buFont typeface="Arial"/>
              <a:buChar char="•"/>
            </a:pPr>
            <a:r>
              <a:rPr lang="en-US" sz="2000">
                <a:solidFill>
                  <a:srgbClr val="5B5F71"/>
                </a:solidFill>
                <a:latin typeface="Arimo"/>
                <a:ea typeface="Arimo"/>
                <a:cs typeface="Arimo"/>
                <a:sym typeface="Arimo"/>
              </a:rPr>
              <a:t>Barreras de entrada dinámicas que crecen con el tiempo</a:t>
            </a:r>
          </a:p>
          <a:p>
            <a:pPr algn="l" marL="301625" indent="-150813" lvl="1">
              <a:lnSpc>
                <a:spcPts val="3225"/>
              </a:lnSpc>
              <a:buFont typeface="Arial"/>
              <a:buChar char="•"/>
            </a:pPr>
            <a:r>
              <a:rPr lang="en-US" sz="2000">
                <a:solidFill>
                  <a:srgbClr val="5B5F71"/>
                </a:solidFill>
                <a:latin typeface="Arimo"/>
                <a:ea typeface="Arimo"/>
                <a:cs typeface="Arimo"/>
                <a:sym typeface="Arimo"/>
              </a:rPr>
              <a:t>Increasing returns: el costo marginal decrece con escala</a:t>
            </a:r>
          </a:p>
          <a:p>
            <a:pPr algn="l" marL="301625" indent="-150813" lvl="1">
              <a:lnSpc>
                <a:spcPts val="3225"/>
              </a:lnSpc>
              <a:buFont typeface="Arial"/>
              <a:buChar char="•"/>
            </a:pPr>
            <a:r>
              <a:rPr lang="en-US" sz="2000">
                <a:solidFill>
                  <a:srgbClr val="5B5F71"/>
                </a:solidFill>
                <a:latin typeface="Arimo"/>
                <a:ea typeface="Arimo"/>
                <a:cs typeface="Arimo"/>
                <a:sym typeface="Arimo"/>
              </a:rPr>
              <a:t>Lock-in estructural por integración profunda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992238" y="7973168"/>
            <a:ext cx="16303523" cy="1450924"/>
            <a:chOff x="0" y="0"/>
            <a:chExt cx="21738031" cy="193456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1738082" cy="1934591"/>
            </a:xfrm>
            <a:custGeom>
              <a:avLst/>
              <a:gdLst/>
              <a:ahLst/>
              <a:cxnLst/>
              <a:rect r="r" b="b" t="t" l="l"/>
              <a:pathLst>
                <a:path h="1934591" w="21738082">
                  <a:moveTo>
                    <a:pt x="0" y="138938"/>
                  </a:moveTo>
                  <a:cubicBezTo>
                    <a:pt x="0" y="62230"/>
                    <a:pt x="62230" y="0"/>
                    <a:pt x="138938" y="0"/>
                  </a:cubicBezTo>
                  <a:lnTo>
                    <a:pt x="21599144" y="0"/>
                  </a:lnTo>
                  <a:cubicBezTo>
                    <a:pt x="21675852" y="0"/>
                    <a:pt x="21738082" y="62230"/>
                    <a:pt x="21738082" y="138938"/>
                  </a:cubicBezTo>
                  <a:lnTo>
                    <a:pt x="21738082" y="1795653"/>
                  </a:lnTo>
                  <a:cubicBezTo>
                    <a:pt x="21738082" y="1872361"/>
                    <a:pt x="21675852" y="1934591"/>
                    <a:pt x="21599144" y="1934591"/>
                  </a:cubicBezTo>
                  <a:lnTo>
                    <a:pt x="138938" y="1934591"/>
                  </a:lnTo>
                  <a:cubicBezTo>
                    <a:pt x="62230" y="1934591"/>
                    <a:pt x="0" y="1872361"/>
                    <a:pt x="0" y="1795653"/>
                  </a:cubicBezTo>
                  <a:close/>
                </a:path>
              </a:pathLst>
            </a:custGeom>
            <a:solidFill>
              <a:srgbClr val="D4D5DE"/>
            </a:solid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1798139" y="8197301"/>
            <a:ext cx="15249677" cy="8000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5"/>
              </a:lnSpc>
            </a:pPr>
            <a:r>
              <a:rPr lang="en-US" sz="2000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Insight clave:</a:t>
            </a:r>
            <a:r>
              <a:rPr lang="en-US" sz="20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"Los efectos de red no solo crean ventajas competitivas — las fortalecen con cada nueva transacción, cada nuevo dato, cada nuevo participante."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0">
            <a:off x="16131635" y="0"/>
            <a:ext cx="2127619" cy="1418413"/>
          </a:xfrm>
          <a:custGeom>
            <a:avLst/>
            <a:gdLst/>
            <a:ahLst/>
            <a:cxnLst/>
            <a:rect r="r" b="b" t="t" l="l"/>
            <a:pathLst>
              <a:path h="1418413" w="2127619">
                <a:moveTo>
                  <a:pt x="0" y="0"/>
                </a:moveTo>
                <a:lnTo>
                  <a:pt x="2127619" y="0"/>
                </a:lnTo>
                <a:lnTo>
                  <a:pt x="2127619" y="1418413"/>
                </a:lnTo>
                <a:lnTo>
                  <a:pt x="0" y="141841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34345" y="728124"/>
            <a:ext cx="10215150" cy="10747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52"/>
              </a:lnSpc>
            </a:pPr>
            <a:r>
              <a:rPr lang="en-US" b="true" sz="6699">
                <a:solidFill>
                  <a:srgbClr val="E35099"/>
                </a:solidFill>
                <a:latin typeface="Arimo Bold"/>
                <a:ea typeface="Arimo Bold"/>
                <a:cs typeface="Arimo Bold"/>
                <a:sym typeface="Arimo Bold"/>
              </a:rPr>
              <a:t>Riesgos y Métricas Clave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766172" y="2126752"/>
            <a:ext cx="7411641" cy="5890317"/>
            <a:chOff x="0" y="0"/>
            <a:chExt cx="9882188" cy="785375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9882250" cy="7853934"/>
            </a:xfrm>
            <a:custGeom>
              <a:avLst/>
              <a:gdLst/>
              <a:ahLst/>
              <a:cxnLst/>
              <a:rect r="r" b="b" t="t" l="l"/>
              <a:pathLst>
                <a:path h="7853934" w="9882250">
                  <a:moveTo>
                    <a:pt x="0" y="224282"/>
                  </a:moveTo>
                  <a:cubicBezTo>
                    <a:pt x="0" y="100330"/>
                    <a:pt x="100330" y="0"/>
                    <a:pt x="224282" y="0"/>
                  </a:cubicBezTo>
                  <a:lnTo>
                    <a:pt x="9657969" y="0"/>
                  </a:lnTo>
                  <a:cubicBezTo>
                    <a:pt x="9781794" y="0"/>
                    <a:pt x="9882250" y="100330"/>
                    <a:pt x="9882250" y="224282"/>
                  </a:cubicBezTo>
                  <a:lnTo>
                    <a:pt x="9882250" y="7629651"/>
                  </a:lnTo>
                  <a:cubicBezTo>
                    <a:pt x="9882250" y="7753476"/>
                    <a:pt x="9781921" y="7853934"/>
                    <a:pt x="9657969" y="7853934"/>
                  </a:cubicBezTo>
                  <a:lnTo>
                    <a:pt x="224282" y="7853934"/>
                  </a:lnTo>
                  <a:cubicBezTo>
                    <a:pt x="100330" y="7853807"/>
                    <a:pt x="0" y="7753350"/>
                    <a:pt x="0" y="7629525"/>
                  </a:cubicBezTo>
                  <a:close/>
                </a:path>
              </a:pathLst>
            </a:custGeom>
            <a:solidFill>
              <a:srgbClr val="40BAE9">
                <a:alpha val="90196"/>
              </a:srgbClr>
            </a:solidFill>
          </p:spPr>
        </p:sp>
      </p:grpSp>
      <p:sp>
        <p:nvSpPr>
          <p:cNvPr name="TextBox 5" id="5"/>
          <p:cNvSpPr txBox="true"/>
          <p:nvPr/>
        </p:nvSpPr>
        <p:spPr>
          <a:xfrm rot="0">
            <a:off x="999677" y="2317994"/>
            <a:ext cx="4637037" cy="3934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2249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Riesgos del modelo de plataforma</a:t>
            </a:r>
          </a:p>
        </p:txBody>
      </p:sp>
      <p:sp>
        <p:nvSpPr>
          <p:cNvPr name="Freeform 6" id="6" descr="preencoded.png"/>
          <p:cNvSpPr/>
          <p:nvPr/>
        </p:nvSpPr>
        <p:spPr>
          <a:xfrm flipH="false" flipV="false" rot="0">
            <a:off x="1087193" y="2966066"/>
            <a:ext cx="350339" cy="350339"/>
          </a:xfrm>
          <a:custGeom>
            <a:avLst/>
            <a:gdLst/>
            <a:ahLst/>
            <a:cxnLst/>
            <a:rect r="r" b="b" t="t" l="l"/>
            <a:pathLst>
              <a:path h="350339" w="350339">
                <a:moveTo>
                  <a:pt x="0" y="0"/>
                </a:moveTo>
                <a:lnTo>
                  <a:pt x="350339" y="0"/>
                </a:lnTo>
                <a:lnTo>
                  <a:pt x="350339" y="350339"/>
                </a:lnTo>
                <a:lnTo>
                  <a:pt x="0" y="35033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8107" t="0" r="-811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758706" y="2930281"/>
            <a:ext cx="1763696" cy="4032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4"/>
              </a:lnSpc>
            </a:pPr>
            <a:r>
              <a:rPr lang="en-US" b="true" sz="2499">
                <a:solidFill>
                  <a:srgbClr val="E35099"/>
                </a:solidFill>
                <a:latin typeface="Arimo Bold"/>
                <a:ea typeface="Arimo Bold"/>
                <a:cs typeface="Arimo Bold"/>
                <a:sym typeface="Arimo Bold"/>
              </a:rPr>
              <a:t>Regulatorio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758706" y="3467395"/>
            <a:ext cx="6185592" cy="767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03"/>
              </a:lnSpc>
            </a:pPr>
            <a:r>
              <a:rPr lang="en-US" sz="20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Marco de Open Finance en evolución; incertidumbre normativa sobre uso de datos transaccionales.</a:t>
            </a:r>
          </a:p>
        </p:txBody>
      </p:sp>
      <p:sp>
        <p:nvSpPr>
          <p:cNvPr name="Freeform 9" id="9" descr="preencoded.png"/>
          <p:cNvSpPr/>
          <p:nvPr/>
        </p:nvSpPr>
        <p:spPr>
          <a:xfrm flipH="false" flipV="false" rot="0">
            <a:off x="1087193" y="4716285"/>
            <a:ext cx="350339" cy="350339"/>
          </a:xfrm>
          <a:custGeom>
            <a:avLst/>
            <a:gdLst/>
            <a:ahLst/>
            <a:cxnLst/>
            <a:rect r="r" b="b" t="t" l="l"/>
            <a:pathLst>
              <a:path h="350339" w="350339">
                <a:moveTo>
                  <a:pt x="0" y="0"/>
                </a:moveTo>
                <a:lnTo>
                  <a:pt x="350339" y="0"/>
                </a:lnTo>
                <a:lnTo>
                  <a:pt x="350339" y="350339"/>
                </a:lnTo>
                <a:lnTo>
                  <a:pt x="0" y="35033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8107" t="0" r="-811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758706" y="4680499"/>
            <a:ext cx="1834224" cy="4032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4"/>
              </a:lnSpc>
            </a:pPr>
            <a:r>
              <a:rPr lang="en-US" b="true" sz="2499">
                <a:solidFill>
                  <a:srgbClr val="E35099"/>
                </a:solidFill>
                <a:latin typeface="Arimo Bold"/>
                <a:ea typeface="Arimo Bold"/>
                <a:cs typeface="Arimo Bold"/>
                <a:sym typeface="Arimo Bold"/>
              </a:rPr>
              <a:t>Competitivo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758706" y="5217614"/>
            <a:ext cx="6185592" cy="767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03"/>
              </a:lnSpc>
            </a:pPr>
            <a:r>
              <a:rPr lang="en-US" sz="20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Entrada agresiva de fintechs, neobancos y Big Tech con modelos asset-light y sin fricción regulatoria.</a:t>
            </a:r>
          </a:p>
        </p:txBody>
      </p:sp>
      <p:sp>
        <p:nvSpPr>
          <p:cNvPr name="Freeform 12" id="12" descr="preencoded.png"/>
          <p:cNvSpPr/>
          <p:nvPr/>
        </p:nvSpPr>
        <p:spPr>
          <a:xfrm flipH="false" flipV="false" rot="0">
            <a:off x="1087193" y="6466503"/>
            <a:ext cx="350339" cy="350339"/>
          </a:xfrm>
          <a:custGeom>
            <a:avLst/>
            <a:gdLst/>
            <a:ahLst/>
            <a:cxnLst/>
            <a:rect r="r" b="b" t="t" l="l"/>
            <a:pathLst>
              <a:path h="350339" w="350339">
                <a:moveTo>
                  <a:pt x="0" y="0"/>
                </a:moveTo>
                <a:lnTo>
                  <a:pt x="350339" y="0"/>
                </a:lnTo>
                <a:lnTo>
                  <a:pt x="350339" y="350339"/>
                </a:lnTo>
                <a:lnTo>
                  <a:pt x="0" y="35033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8107" t="0" r="-811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758706" y="6430718"/>
            <a:ext cx="1993222" cy="4032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4"/>
              </a:lnSpc>
            </a:pPr>
            <a:r>
              <a:rPr lang="en-US" b="true" sz="2499">
                <a:solidFill>
                  <a:srgbClr val="E35099"/>
                </a:solidFill>
                <a:latin typeface="Arimo Bold"/>
                <a:ea typeface="Arimo Bold"/>
                <a:cs typeface="Arimo Bold"/>
                <a:sym typeface="Arimo Bold"/>
              </a:rPr>
              <a:t>Reputacional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758706" y="6967833"/>
            <a:ext cx="6185592" cy="767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03"/>
              </a:lnSpc>
            </a:pPr>
            <a:r>
              <a:rPr lang="en-US" sz="20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Riesgo de ciberseguridad y percepción sobre privacidad y uso ético de datos de usuarios.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588873" y="2317994"/>
            <a:ext cx="8633354" cy="4489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b="true" sz="2799">
                <a:solidFill>
                  <a:srgbClr val="E35099"/>
                </a:solidFill>
                <a:latin typeface="Arimo Bold"/>
                <a:ea typeface="Arimo Bold"/>
                <a:cs typeface="Arimo Bold"/>
                <a:sym typeface="Arimo Bold"/>
              </a:rPr>
              <a:t>Métricas que importan en un modelo de plataforma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8588873" y="3161257"/>
            <a:ext cx="8783688" cy="4265114"/>
            <a:chOff x="0" y="0"/>
            <a:chExt cx="11711584" cy="568681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1711559" cy="5686806"/>
            </a:xfrm>
            <a:custGeom>
              <a:avLst/>
              <a:gdLst/>
              <a:ahLst/>
              <a:cxnLst/>
              <a:rect r="r" b="b" t="t" l="l"/>
              <a:pathLst>
                <a:path h="5686806" w="11711559">
                  <a:moveTo>
                    <a:pt x="0" y="137160"/>
                  </a:moveTo>
                  <a:cubicBezTo>
                    <a:pt x="0" y="61341"/>
                    <a:pt x="61468" y="0"/>
                    <a:pt x="137287" y="0"/>
                  </a:cubicBezTo>
                  <a:lnTo>
                    <a:pt x="11574272" y="0"/>
                  </a:lnTo>
                  <a:lnTo>
                    <a:pt x="11574272" y="6350"/>
                  </a:lnTo>
                  <a:lnTo>
                    <a:pt x="11574272" y="0"/>
                  </a:lnTo>
                  <a:cubicBezTo>
                    <a:pt x="11650090" y="0"/>
                    <a:pt x="11711559" y="61341"/>
                    <a:pt x="11711559" y="137160"/>
                  </a:cubicBezTo>
                  <a:lnTo>
                    <a:pt x="11705209" y="137160"/>
                  </a:lnTo>
                  <a:lnTo>
                    <a:pt x="11711559" y="137160"/>
                  </a:lnTo>
                  <a:lnTo>
                    <a:pt x="11711559" y="5549646"/>
                  </a:lnTo>
                  <a:lnTo>
                    <a:pt x="11705209" y="5549646"/>
                  </a:lnTo>
                  <a:lnTo>
                    <a:pt x="11711559" y="5549646"/>
                  </a:lnTo>
                  <a:cubicBezTo>
                    <a:pt x="11711559" y="5625338"/>
                    <a:pt x="11650090" y="5686806"/>
                    <a:pt x="11574272" y="5686806"/>
                  </a:cubicBezTo>
                  <a:lnTo>
                    <a:pt x="11574272" y="5680456"/>
                  </a:lnTo>
                  <a:lnTo>
                    <a:pt x="11574272" y="5686806"/>
                  </a:lnTo>
                  <a:lnTo>
                    <a:pt x="137287" y="5686806"/>
                  </a:lnTo>
                  <a:lnTo>
                    <a:pt x="137287" y="5680456"/>
                  </a:lnTo>
                  <a:lnTo>
                    <a:pt x="137287" y="5686806"/>
                  </a:lnTo>
                  <a:cubicBezTo>
                    <a:pt x="61468" y="5686806"/>
                    <a:pt x="0" y="5625465"/>
                    <a:pt x="0" y="5549646"/>
                  </a:cubicBezTo>
                  <a:lnTo>
                    <a:pt x="0" y="137160"/>
                  </a:lnTo>
                  <a:lnTo>
                    <a:pt x="6350" y="137160"/>
                  </a:lnTo>
                  <a:lnTo>
                    <a:pt x="0" y="137160"/>
                  </a:lnTo>
                  <a:moveTo>
                    <a:pt x="12700" y="137160"/>
                  </a:moveTo>
                  <a:lnTo>
                    <a:pt x="12700" y="5549646"/>
                  </a:lnTo>
                  <a:lnTo>
                    <a:pt x="6350" y="5549646"/>
                  </a:lnTo>
                  <a:lnTo>
                    <a:pt x="12700" y="5549646"/>
                  </a:lnTo>
                  <a:cubicBezTo>
                    <a:pt x="12700" y="5618353"/>
                    <a:pt x="68453" y="5674106"/>
                    <a:pt x="137287" y="5674106"/>
                  </a:cubicBezTo>
                  <a:lnTo>
                    <a:pt x="11574272" y="5674106"/>
                  </a:lnTo>
                  <a:cubicBezTo>
                    <a:pt x="11643106" y="5674106"/>
                    <a:pt x="11698859" y="5618353"/>
                    <a:pt x="11698859" y="5549646"/>
                  </a:cubicBezTo>
                  <a:lnTo>
                    <a:pt x="11698859" y="137160"/>
                  </a:lnTo>
                  <a:cubicBezTo>
                    <a:pt x="11698859" y="68453"/>
                    <a:pt x="11643106" y="12700"/>
                    <a:pt x="11574272" y="12700"/>
                  </a:cubicBezTo>
                  <a:lnTo>
                    <a:pt x="137287" y="12700"/>
                  </a:lnTo>
                  <a:lnTo>
                    <a:pt x="137287" y="6350"/>
                  </a:lnTo>
                  <a:lnTo>
                    <a:pt x="137287" y="12700"/>
                  </a:lnTo>
                  <a:cubicBezTo>
                    <a:pt x="68453" y="12700"/>
                    <a:pt x="12700" y="68453"/>
                    <a:pt x="12700" y="137160"/>
                  </a:cubicBezTo>
                  <a:close/>
                </a:path>
              </a:pathLst>
            </a:custGeom>
            <a:solidFill>
              <a:srgbClr val="000000">
                <a:alpha val="392"/>
              </a:srgbClr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8603161" y="3175545"/>
            <a:ext cx="8755113" cy="645614"/>
            <a:chOff x="0" y="0"/>
            <a:chExt cx="11673484" cy="860819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1673459" cy="860806"/>
            </a:xfrm>
            <a:custGeom>
              <a:avLst/>
              <a:gdLst/>
              <a:ahLst/>
              <a:cxnLst/>
              <a:rect r="r" b="b" t="t" l="l"/>
              <a:pathLst>
                <a:path h="860806" w="11673459">
                  <a:moveTo>
                    <a:pt x="0" y="0"/>
                  </a:moveTo>
                  <a:lnTo>
                    <a:pt x="11673459" y="0"/>
                  </a:lnTo>
                  <a:lnTo>
                    <a:pt x="11673459" y="860806"/>
                  </a:lnTo>
                  <a:lnTo>
                    <a:pt x="0" y="860806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8836819" y="3221674"/>
            <a:ext cx="3467995" cy="4693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79"/>
              </a:lnSpc>
            </a:pPr>
            <a:r>
              <a:rPr lang="en-US" sz="2499" b="true">
                <a:solidFill>
                  <a:srgbClr val="5B5F71"/>
                </a:solidFill>
                <a:latin typeface="Arimo Bold"/>
                <a:ea typeface="Arimo Bold"/>
                <a:cs typeface="Arimo Bold"/>
                <a:sym typeface="Arimo Bold"/>
              </a:rPr>
              <a:t>Métrica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781359" y="3221674"/>
            <a:ext cx="4343400" cy="4693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79"/>
              </a:lnSpc>
            </a:pPr>
            <a:r>
              <a:rPr lang="en-US" sz="2499" b="true">
                <a:solidFill>
                  <a:srgbClr val="5B5F71"/>
                </a:solidFill>
                <a:latin typeface="Arimo Bold"/>
                <a:ea typeface="Arimo Bold"/>
                <a:cs typeface="Arimo Bold"/>
                <a:sym typeface="Arimo Bold"/>
              </a:rPr>
              <a:t>¿Qué mide?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8603161" y="3821159"/>
            <a:ext cx="8755113" cy="1008459"/>
            <a:chOff x="0" y="0"/>
            <a:chExt cx="11673484" cy="134461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1673459" cy="1344676"/>
            </a:xfrm>
            <a:custGeom>
              <a:avLst/>
              <a:gdLst/>
              <a:ahLst/>
              <a:cxnLst/>
              <a:rect r="r" b="b" t="t" l="l"/>
              <a:pathLst>
                <a:path h="1344676" w="11673459">
                  <a:moveTo>
                    <a:pt x="0" y="0"/>
                  </a:moveTo>
                  <a:lnTo>
                    <a:pt x="11673459" y="0"/>
                  </a:lnTo>
                  <a:lnTo>
                    <a:pt x="11673459" y="1344676"/>
                  </a:lnTo>
                  <a:lnTo>
                    <a:pt x="0" y="134467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8836819" y="3886348"/>
            <a:ext cx="3467995" cy="377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03"/>
              </a:lnSpc>
            </a:pPr>
            <a:r>
              <a:rPr lang="en-US" sz="2000">
                <a:solidFill>
                  <a:srgbClr val="5B5F71"/>
                </a:solidFill>
                <a:latin typeface="Arimo"/>
                <a:ea typeface="Arimo"/>
                <a:cs typeface="Arimo"/>
                <a:sym typeface="Arimo"/>
              </a:rPr>
              <a:t>MAU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781359" y="3886348"/>
            <a:ext cx="4343400" cy="767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03"/>
              </a:lnSpc>
            </a:pPr>
            <a:r>
              <a:rPr lang="en-US" sz="2000">
                <a:solidFill>
                  <a:srgbClr val="5B5F71"/>
                </a:solidFill>
                <a:latin typeface="Arimo"/>
                <a:ea typeface="Arimo"/>
                <a:cs typeface="Arimo"/>
                <a:sym typeface="Arimo"/>
              </a:rPr>
              <a:t>Adopción y engagement de usuarios activos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8603161" y="4829618"/>
            <a:ext cx="8755113" cy="645614"/>
            <a:chOff x="0" y="0"/>
            <a:chExt cx="11673484" cy="860819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1673459" cy="860806"/>
            </a:xfrm>
            <a:custGeom>
              <a:avLst/>
              <a:gdLst/>
              <a:ahLst/>
              <a:cxnLst/>
              <a:rect r="r" b="b" t="t" l="l"/>
              <a:pathLst>
                <a:path h="860806" w="11673459">
                  <a:moveTo>
                    <a:pt x="0" y="0"/>
                  </a:moveTo>
                  <a:lnTo>
                    <a:pt x="11673459" y="0"/>
                  </a:lnTo>
                  <a:lnTo>
                    <a:pt x="11673459" y="860806"/>
                  </a:lnTo>
                  <a:lnTo>
                    <a:pt x="0" y="860806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</p:sp>
      </p:grpSp>
      <p:sp>
        <p:nvSpPr>
          <p:cNvPr name="TextBox 28" id="28"/>
          <p:cNvSpPr txBox="true"/>
          <p:nvPr/>
        </p:nvSpPr>
        <p:spPr>
          <a:xfrm rot="0">
            <a:off x="8836819" y="4894807"/>
            <a:ext cx="3467995" cy="377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03"/>
              </a:lnSpc>
            </a:pPr>
            <a:r>
              <a:rPr lang="en-US" sz="2000">
                <a:solidFill>
                  <a:srgbClr val="5B5F71"/>
                </a:solidFill>
                <a:latin typeface="Arimo"/>
                <a:ea typeface="Arimo"/>
                <a:cs typeface="Arimo"/>
                <a:sym typeface="Arimo"/>
              </a:rPr>
              <a:t>Comercios afiliados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2781359" y="4894807"/>
            <a:ext cx="4343400" cy="767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03"/>
              </a:lnSpc>
            </a:pPr>
            <a:r>
              <a:rPr lang="en-US" sz="2000">
                <a:solidFill>
                  <a:srgbClr val="5B5F71"/>
                </a:solidFill>
                <a:latin typeface="Arimo"/>
                <a:ea typeface="Arimo"/>
                <a:cs typeface="Arimo"/>
                <a:sym typeface="Arimo"/>
              </a:rPr>
              <a:t>Crecimiento y densidad del ecosistema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8603161" y="5475232"/>
            <a:ext cx="8755113" cy="645614"/>
            <a:chOff x="0" y="0"/>
            <a:chExt cx="11673484" cy="860819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1673459" cy="860806"/>
            </a:xfrm>
            <a:custGeom>
              <a:avLst/>
              <a:gdLst/>
              <a:ahLst/>
              <a:cxnLst/>
              <a:rect r="r" b="b" t="t" l="l"/>
              <a:pathLst>
                <a:path h="860806" w="11673459">
                  <a:moveTo>
                    <a:pt x="0" y="0"/>
                  </a:moveTo>
                  <a:lnTo>
                    <a:pt x="11673459" y="0"/>
                  </a:lnTo>
                  <a:lnTo>
                    <a:pt x="11673459" y="860806"/>
                  </a:lnTo>
                  <a:lnTo>
                    <a:pt x="0" y="86080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name="TextBox 32" id="32"/>
          <p:cNvSpPr txBox="true"/>
          <p:nvPr/>
        </p:nvSpPr>
        <p:spPr>
          <a:xfrm rot="0">
            <a:off x="8836819" y="5540421"/>
            <a:ext cx="3467995" cy="377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03"/>
              </a:lnSpc>
            </a:pPr>
            <a:r>
              <a:rPr lang="en-US" sz="2000">
                <a:solidFill>
                  <a:srgbClr val="5B5F71"/>
                </a:solidFill>
                <a:latin typeface="Arimo"/>
                <a:ea typeface="Arimo"/>
                <a:cs typeface="Arimo"/>
                <a:sym typeface="Arimo"/>
              </a:rPr>
              <a:t>ARPU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2781359" y="5540421"/>
            <a:ext cx="4343400" cy="377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03"/>
              </a:lnSpc>
            </a:pPr>
            <a:r>
              <a:rPr lang="en-US" sz="2000">
                <a:solidFill>
                  <a:srgbClr val="5B5F71"/>
                </a:solidFill>
                <a:latin typeface="Arimo"/>
                <a:ea typeface="Arimo"/>
                <a:cs typeface="Arimo"/>
                <a:sym typeface="Arimo"/>
              </a:rPr>
              <a:t>Nivel de monetización por participante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8603161" y="6120846"/>
            <a:ext cx="8755113" cy="645614"/>
            <a:chOff x="0" y="0"/>
            <a:chExt cx="11673484" cy="860819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1673459" cy="860806"/>
            </a:xfrm>
            <a:custGeom>
              <a:avLst/>
              <a:gdLst/>
              <a:ahLst/>
              <a:cxnLst/>
              <a:rect r="r" b="b" t="t" l="l"/>
              <a:pathLst>
                <a:path h="860806" w="11673459">
                  <a:moveTo>
                    <a:pt x="0" y="0"/>
                  </a:moveTo>
                  <a:lnTo>
                    <a:pt x="11673459" y="0"/>
                  </a:lnTo>
                  <a:lnTo>
                    <a:pt x="11673459" y="860806"/>
                  </a:lnTo>
                  <a:lnTo>
                    <a:pt x="0" y="860806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</p:sp>
      </p:grpSp>
      <p:sp>
        <p:nvSpPr>
          <p:cNvPr name="TextBox 36" id="36"/>
          <p:cNvSpPr txBox="true"/>
          <p:nvPr/>
        </p:nvSpPr>
        <p:spPr>
          <a:xfrm rot="0">
            <a:off x="8836819" y="6186035"/>
            <a:ext cx="3467995" cy="377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03"/>
              </a:lnSpc>
            </a:pPr>
            <a:r>
              <a:rPr lang="en-US" sz="2000">
                <a:solidFill>
                  <a:srgbClr val="5B5F71"/>
                </a:solidFill>
                <a:latin typeface="Arimo"/>
                <a:ea typeface="Arimo"/>
                <a:cs typeface="Arimo"/>
                <a:sym typeface="Arimo"/>
              </a:rPr>
              <a:t>Adopción de servicios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2781359" y="6186035"/>
            <a:ext cx="4343400" cy="377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03"/>
              </a:lnSpc>
            </a:pPr>
            <a:r>
              <a:rPr lang="en-US" sz="2000">
                <a:solidFill>
                  <a:srgbClr val="5B5F71"/>
                </a:solidFill>
                <a:latin typeface="Arimo"/>
                <a:ea typeface="Arimo"/>
                <a:cs typeface="Arimo"/>
                <a:sym typeface="Arimo"/>
              </a:rPr>
              <a:t>Expansión del valor más allá del pago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8603161" y="6766470"/>
            <a:ext cx="8755113" cy="645614"/>
            <a:chOff x="0" y="0"/>
            <a:chExt cx="11673484" cy="860819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1673459" cy="860806"/>
            </a:xfrm>
            <a:custGeom>
              <a:avLst/>
              <a:gdLst/>
              <a:ahLst/>
              <a:cxnLst/>
              <a:rect r="r" b="b" t="t" l="l"/>
              <a:pathLst>
                <a:path h="860806" w="11673459">
                  <a:moveTo>
                    <a:pt x="0" y="0"/>
                  </a:moveTo>
                  <a:lnTo>
                    <a:pt x="11673459" y="0"/>
                  </a:lnTo>
                  <a:lnTo>
                    <a:pt x="11673459" y="860806"/>
                  </a:lnTo>
                  <a:lnTo>
                    <a:pt x="0" y="86080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name="TextBox 40" id="40"/>
          <p:cNvSpPr txBox="true"/>
          <p:nvPr/>
        </p:nvSpPr>
        <p:spPr>
          <a:xfrm rot="0">
            <a:off x="8836819" y="6831649"/>
            <a:ext cx="3467995" cy="377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03"/>
              </a:lnSpc>
            </a:pPr>
            <a:r>
              <a:rPr lang="en-US" sz="2000">
                <a:solidFill>
                  <a:srgbClr val="5B5F71"/>
                </a:solidFill>
                <a:latin typeface="Arimo"/>
                <a:ea typeface="Arimo"/>
                <a:cs typeface="Arimo"/>
                <a:sym typeface="Arimo"/>
              </a:rPr>
              <a:t>CAC vs. LTV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2781359" y="6831649"/>
            <a:ext cx="4343400" cy="377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03"/>
              </a:lnSpc>
            </a:pPr>
            <a:r>
              <a:rPr lang="en-US" sz="2000">
                <a:solidFill>
                  <a:srgbClr val="5B5F71"/>
                </a:solidFill>
                <a:latin typeface="Arimo"/>
                <a:ea typeface="Arimo"/>
                <a:cs typeface="Arimo"/>
                <a:sym typeface="Arimo"/>
              </a:rPr>
              <a:t>Sostenibilidad económica del modelo</a:t>
            </a:r>
          </a:p>
        </p:txBody>
      </p:sp>
      <p:grpSp>
        <p:nvGrpSpPr>
          <p:cNvPr name="Group 42" id="42"/>
          <p:cNvGrpSpPr/>
          <p:nvPr/>
        </p:nvGrpSpPr>
        <p:grpSpPr>
          <a:xfrm rot="0">
            <a:off x="934345" y="8617144"/>
            <a:ext cx="16419309" cy="843655"/>
            <a:chOff x="0" y="0"/>
            <a:chExt cx="21892412" cy="1124873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21892388" cy="1124899"/>
            </a:xfrm>
            <a:custGeom>
              <a:avLst/>
              <a:gdLst/>
              <a:ahLst/>
              <a:cxnLst/>
              <a:rect r="r" b="b" t="t" l="l"/>
              <a:pathLst>
                <a:path h="1124899" w="21892388">
                  <a:moveTo>
                    <a:pt x="0" y="115483"/>
                  </a:moveTo>
                  <a:cubicBezTo>
                    <a:pt x="0" y="51687"/>
                    <a:pt x="58547" y="0"/>
                    <a:pt x="130810" y="0"/>
                  </a:cubicBezTo>
                  <a:lnTo>
                    <a:pt x="21761577" y="0"/>
                  </a:lnTo>
                  <a:cubicBezTo>
                    <a:pt x="21833839" y="0"/>
                    <a:pt x="21892388" y="51687"/>
                    <a:pt x="21892388" y="115483"/>
                  </a:cubicBezTo>
                  <a:lnTo>
                    <a:pt x="21892388" y="1009412"/>
                  </a:lnTo>
                  <a:cubicBezTo>
                    <a:pt x="21892388" y="1073209"/>
                    <a:pt x="21833839" y="1124899"/>
                    <a:pt x="21761577" y="1124899"/>
                  </a:cubicBezTo>
                  <a:lnTo>
                    <a:pt x="130810" y="1124899"/>
                  </a:lnTo>
                  <a:cubicBezTo>
                    <a:pt x="58547" y="1124899"/>
                    <a:pt x="0" y="1073209"/>
                    <a:pt x="0" y="1009412"/>
                  </a:cubicBezTo>
                  <a:close/>
                </a:path>
              </a:pathLst>
            </a:custGeom>
            <a:solidFill>
              <a:srgbClr val="D4D5DE"/>
            </a:solidFill>
          </p:spPr>
        </p:sp>
      </p:grpSp>
      <p:sp>
        <p:nvSpPr>
          <p:cNvPr name="TextBox 44" id="44"/>
          <p:cNvSpPr txBox="true"/>
          <p:nvPr/>
        </p:nvSpPr>
        <p:spPr>
          <a:xfrm rot="0">
            <a:off x="1262363" y="8812878"/>
            <a:ext cx="15862397" cy="377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03"/>
              </a:lnSpc>
            </a:pPr>
            <a:r>
              <a:rPr lang="en-US" sz="2000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Insight clave:</a:t>
            </a:r>
            <a:r>
              <a:rPr lang="en-US" sz="20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"En plataformas, lo que no se mide no es revenue — es adopción y engagement. Sin masa crítica, no hay efectos de red."</a:t>
            </a:r>
          </a:p>
        </p:txBody>
      </p:sp>
      <p:sp>
        <p:nvSpPr>
          <p:cNvPr name="Freeform 45" id="45"/>
          <p:cNvSpPr/>
          <p:nvPr/>
        </p:nvSpPr>
        <p:spPr>
          <a:xfrm flipH="false" flipV="false" rot="0">
            <a:off x="16131635" y="0"/>
            <a:ext cx="2127619" cy="1418413"/>
          </a:xfrm>
          <a:custGeom>
            <a:avLst/>
            <a:gdLst/>
            <a:ahLst/>
            <a:cxnLst/>
            <a:rect r="r" b="b" t="t" l="l"/>
            <a:pathLst>
              <a:path h="1418413" w="2127619">
                <a:moveTo>
                  <a:pt x="0" y="0"/>
                </a:moveTo>
                <a:lnTo>
                  <a:pt x="2127619" y="0"/>
                </a:lnTo>
                <a:lnTo>
                  <a:pt x="2127619" y="1418413"/>
                </a:lnTo>
                <a:lnTo>
                  <a:pt x="0" y="141841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DAHE27_e-cM</dc:identifier>
  <dcterms:modified xsi:type="dcterms:W3CDTF">2011-08-01T06:04:30Z</dcterms:modified>
  <cp:revision>1</cp:revision>
  <dc:title>Transbank-De-Adquirente-a-Plataforma.pptx</dc:title>
</cp:coreProperties>
</file>
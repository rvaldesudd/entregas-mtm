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Alice"/>
      <p:regular r:id="rId17"/>
    </p:embeddedFont>
    <p:embeddedFont>
      <p:font typeface="Alice"/>
      <p:regular r:id="rId18"/>
    </p:embeddedFont>
    <p:embeddedFont>
      <p:font typeface="Lora"/>
      <p:regular r:id="rId19"/>
    </p:embeddedFont>
    <p:embeddedFont>
      <p:font typeface="Lora"/>
      <p:regular r:id="rId20"/>
    </p:embeddedFont>
    <p:embeddedFont>
      <p:font typeface="Lora"/>
      <p:regular r:id="rId21"/>
    </p:embeddedFont>
    <p:embeddedFont>
      <p:font typeface="Lora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70271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Cornershop: Disrupción Tecnológica y Gestión de Riesgos en Quick Commerce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677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Análisis estratégico de un caso paradigmático de transformación digital, escalabilidad y consolidación en el mercado latinoamericano.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617726"/>
            <a:ext cx="2210991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1B5F3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23898" y="5693331"/>
            <a:ext cx="192357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GESTIÓN DE RIESGOS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604528" y="5617726"/>
            <a:ext cx="1993583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1B5F3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48236" y="5693331"/>
            <a:ext cx="170616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QUICK COMMERCE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0711458" y="5617726"/>
            <a:ext cx="2749391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1B5F3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855166" y="5693331"/>
            <a:ext cx="246197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TRANSFORMACIÓN DIGITAL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0689" y="996196"/>
            <a:ext cx="7319367" cy="670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Empresa, Industria y Contexto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750689" y="1970723"/>
            <a:ext cx="3719870" cy="3030736"/>
          </a:xfrm>
          <a:prstGeom prst="roundRect">
            <a:avLst>
              <a:gd name="adj" fmla="val 1062"/>
            </a:avLst>
          </a:prstGeom>
          <a:solidFill>
            <a:srgbClr val="F0EDE6"/>
          </a:solidFill>
          <a:ln/>
        </p:spPr>
      </p:sp>
      <p:sp>
        <p:nvSpPr>
          <p:cNvPr id="5" name="Text 2"/>
          <p:cNvSpPr/>
          <p:nvPr/>
        </p:nvSpPr>
        <p:spPr>
          <a:xfrm>
            <a:off x="965121" y="2185154"/>
            <a:ext cx="2881432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Cornershop (2015, Chile)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965121" y="2641997"/>
            <a:ext cx="3291007" cy="2145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Plataforma de e-grocery vía app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Conecta consumidores, supermercados y shoppers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Expansión rápida: LatAm + EE.UU.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4673322" y="1970723"/>
            <a:ext cx="3719989" cy="3030736"/>
          </a:xfrm>
          <a:prstGeom prst="roundRect">
            <a:avLst>
              <a:gd name="adj" fmla="val 1062"/>
            </a:avLst>
          </a:prstGeom>
          <a:solidFill>
            <a:srgbClr val="F0EDE6"/>
          </a:solidFill>
          <a:ln/>
        </p:spPr>
      </p:sp>
      <p:sp>
        <p:nvSpPr>
          <p:cNvPr id="8" name="Text 5"/>
          <p:cNvSpPr/>
          <p:nvPr/>
        </p:nvSpPr>
        <p:spPr>
          <a:xfrm>
            <a:off x="4887754" y="2185154"/>
            <a:ext cx="2681407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Industria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4887754" y="2641997"/>
            <a:ext cx="3291126" cy="2145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Crecimiento acelerado del e-commerce (BCG)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Auge del quick commerce global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Logística de última milla: costosa y compleja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50689" y="5204222"/>
            <a:ext cx="7642622" cy="2029182"/>
          </a:xfrm>
          <a:prstGeom prst="roundRect">
            <a:avLst>
              <a:gd name="adj" fmla="val 1586"/>
            </a:avLst>
          </a:prstGeom>
          <a:solidFill>
            <a:srgbClr val="F0EDE6"/>
          </a:solidFill>
          <a:ln/>
        </p:spPr>
      </p:sp>
      <p:sp>
        <p:nvSpPr>
          <p:cNvPr id="11" name="Text 8"/>
          <p:cNvSpPr/>
          <p:nvPr/>
        </p:nvSpPr>
        <p:spPr>
          <a:xfrm>
            <a:off x="965121" y="5418653"/>
            <a:ext cx="2681407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Contexto Estratégico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965121" y="5875496"/>
            <a:ext cx="7213759" cy="1143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Alta inversión en crecimiento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Enfoque en escala sobre rentabilidad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Dependencia estructural de financiamiento externo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645" y="509707"/>
            <a:ext cx="9818370" cy="574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Experiencia que Generó los Riesgos Emergentes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645" y="1475780"/>
            <a:ext cx="8092083" cy="45854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17975" y="2454712"/>
            <a:ext cx="2712958" cy="287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Factores Desencadenantes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517975" y="2891076"/>
            <a:ext cx="4150162" cy="2288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Expansión acelerada en múltiples mercados simultáneamente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Competencia creciente con jugadores mejor capitalizados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Presión constante por escalar sin consolidar márgenes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Dependencia crítica de rondas de financiamiento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969645" y="6396752"/>
            <a:ext cx="4130873" cy="1323023"/>
          </a:xfrm>
          <a:prstGeom prst="roundRect">
            <a:avLst>
              <a:gd name="adj" fmla="val 2085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76338" y="6603444"/>
            <a:ext cx="2299097" cy="287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Rentabilidad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76338" y="6980158"/>
            <a:ext cx="3717488" cy="532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Altos costos logísticos no cubiertos por ingresos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249585" y="6396752"/>
            <a:ext cx="4130993" cy="1323023"/>
          </a:xfrm>
          <a:prstGeom prst="roundRect">
            <a:avLst>
              <a:gd name="adj" fmla="val 2085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56277" y="6603444"/>
            <a:ext cx="2299097" cy="287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Competencia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456277" y="6980158"/>
            <a:ext cx="3717608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Guerra de precios y subsidios insostenibles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529643" y="6396752"/>
            <a:ext cx="4130993" cy="1323023"/>
          </a:xfrm>
          <a:prstGeom prst="roundRect">
            <a:avLst>
              <a:gd name="adj" fmla="val 2085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36336" y="6603444"/>
            <a:ext cx="2299097" cy="287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Tecnología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736336" y="6980158"/>
            <a:ext cx="3717608" cy="532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Alta complejidad y urgencia de escalabilidad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8324" y="824627"/>
            <a:ext cx="4664393" cy="583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Problema Central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878324" y="1637824"/>
            <a:ext cx="12873633" cy="1609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5050" dirty="0">
                <a:solidFill>
                  <a:srgbClr val="1B5F39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Incapacidad de escalar el modelo de negocio de forma rentable</a:t>
            </a:r>
            <a:endParaRPr lang="en-US" sz="5050" dirty="0"/>
          </a:p>
        </p:txBody>
      </p:sp>
      <p:sp>
        <p:nvSpPr>
          <p:cNvPr id="4" name="Text 2"/>
          <p:cNvSpPr/>
          <p:nvPr/>
        </p:nvSpPr>
        <p:spPr>
          <a:xfrm>
            <a:off x="878324" y="3476982"/>
            <a:ext cx="12873633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pesar de la fuerte demanda, la estructura de costos y la dinámica competitiva hacían inviable la rentabilidad sostenida.</a:t>
            </a:r>
            <a:endParaRPr lang="en-US" sz="1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324" y="3921562"/>
            <a:ext cx="6436757" cy="7462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4895" y="4821198"/>
            <a:ext cx="2340412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Costos de Última Milla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64895" y="5204698"/>
            <a:ext cx="6063615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Entrega rápida = costos operativos muy elevados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81" y="3921562"/>
            <a:ext cx="6436876" cy="7462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01652" y="4821198"/>
            <a:ext cx="2575322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Subsidios al Crecimiento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501652" y="5204698"/>
            <a:ext cx="6063734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Descuentos y promociones para captar usuarios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324" y="5663208"/>
            <a:ext cx="6436757" cy="7462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64895" y="6562844"/>
            <a:ext cx="2332196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Competencia Intensa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1064895" y="6946344"/>
            <a:ext cx="6063615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Presión de precio continua de rivales globales</a:t>
            </a:r>
            <a:endParaRPr lang="en-US" sz="14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081" y="5663208"/>
            <a:ext cx="6436876" cy="74628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501652" y="6562844"/>
            <a:ext cx="2461379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Dependencia de Capital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7501652" y="6946344"/>
            <a:ext cx="6063734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Operaciones sostenidas por inversión externa, no por caja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8461" y="517327"/>
            <a:ext cx="4562832" cy="570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Análisis de Causa Raíz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461" y="1473041"/>
            <a:ext cx="6074093" cy="607409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61" y="1473041"/>
            <a:ext cx="6074093" cy="607409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45467" y="3170039"/>
            <a:ext cx="3728561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Dimensiones de Riesgo Identificadas</a:t>
            </a:r>
            <a:endParaRPr lang="en-US" sz="1750" dirty="0"/>
          </a:p>
        </p:txBody>
      </p:sp>
      <p:sp>
        <p:nvSpPr>
          <p:cNvPr id="6" name="Shape 2"/>
          <p:cNvSpPr/>
          <p:nvPr/>
        </p:nvSpPr>
        <p:spPr>
          <a:xfrm>
            <a:off x="7522607" y="3597473"/>
            <a:ext cx="45720" cy="1268135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7" name="Text 3"/>
          <p:cNvSpPr/>
          <p:nvPr/>
        </p:nvSpPr>
        <p:spPr>
          <a:xfrm>
            <a:off x="7773591" y="3620333"/>
            <a:ext cx="2281357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Estrategia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7773591" y="4052292"/>
            <a:ext cx="2717125" cy="79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Expansión agresiva priorizando cuota de mercado sobre márgenes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10651331" y="3597473"/>
            <a:ext cx="45720" cy="1268135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0" name="Text 6"/>
          <p:cNvSpPr/>
          <p:nvPr/>
        </p:nvSpPr>
        <p:spPr>
          <a:xfrm>
            <a:off x="10902315" y="3620333"/>
            <a:ext cx="2281357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Finanzas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902315" y="4052292"/>
            <a:ext cx="2717244" cy="526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CAC elevado y alto gasto en marketing con ROI incierto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522607" y="5113496"/>
            <a:ext cx="45720" cy="741164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3" name="Text 9"/>
          <p:cNvSpPr/>
          <p:nvPr/>
        </p:nvSpPr>
        <p:spPr>
          <a:xfrm>
            <a:off x="7773591" y="5136356"/>
            <a:ext cx="2281357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Regulación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7773591" y="5568315"/>
            <a:ext cx="5845969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Normativas laborales sobre repartidores con impacto en costos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075" y="624007"/>
            <a:ext cx="11398448" cy="708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Cascada de Riesgo: Del Contexto al Resultado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075" y="3905607"/>
            <a:ext cx="13044249" cy="30480"/>
          </a:xfrm>
          <a:prstGeom prst="roundRect">
            <a:avLst>
              <a:gd name="adj" fmla="val 111525"/>
            </a:avLst>
          </a:prstGeom>
          <a:solidFill>
            <a:srgbClr val="D6D3CC"/>
          </a:solidFill>
          <a:ln/>
        </p:spPr>
      </p:sp>
      <p:sp>
        <p:nvSpPr>
          <p:cNvPr id="4" name="Shape 2"/>
          <p:cNvSpPr/>
          <p:nvPr/>
        </p:nvSpPr>
        <p:spPr>
          <a:xfrm>
            <a:off x="3301722" y="3225760"/>
            <a:ext cx="30480" cy="679847"/>
          </a:xfrm>
          <a:prstGeom prst="roundRect">
            <a:avLst>
              <a:gd name="adj" fmla="val 111525"/>
            </a:avLst>
          </a:prstGeom>
          <a:solidFill>
            <a:srgbClr val="D6D3CC"/>
          </a:solidFill>
          <a:ln/>
        </p:spPr>
      </p:sp>
      <p:sp>
        <p:nvSpPr>
          <p:cNvPr id="5" name="Shape 3"/>
          <p:cNvSpPr/>
          <p:nvPr/>
        </p:nvSpPr>
        <p:spPr>
          <a:xfrm>
            <a:off x="3062049" y="3650694"/>
            <a:ext cx="509826" cy="509826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6" name="Text 4"/>
          <p:cNvSpPr/>
          <p:nvPr/>
        </p:nvSpPr>
        <p:spPr>
          <a:xfrm>
            <a:off x="3147000" y="3693200"/>
            <a:ext cx="339923" cy="42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900714" y="1784866"/>
            <a:ext cx="2832616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1.er Orden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19651" y="2274570"/>
            <a:ext cx="4594741" cy="72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Aparición de plataformas digitales de entrega a domicilio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967174" y="3905607"/>
            <a:ext cx="30480" cy="679847"/>
          </a:xfrm>
          <a:prstGeom prst="roundRect">
            <a:avLst>
              <a:gd name="adj" fmla="val 111525"/>
            </a:avLst>
          </a:prstGeom>
          <a:solidFill>
            <a:srgbClr val="D6D3CC"/>
          </a:solidFill>
          <a:ln/>
        </p:spPr>
      </p:sp>
      <p:sp>
        <p:nvSpPr>
          <p:cNvPr id="10" name="Shape 8"/>
          <p:cNvSpPr/>
          <p:nvPr/>
        </p:nvSpPr>
        <p:spPr>
          <a:xfrm>
            <a:off x="5727502" y="3650694"/>
            <a:ext cx="509826" cy="509826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11" name="Text 9"/>
          <p:cNvSpPr/>
          <p:nvPr/>
        </p:nvSpPr>
        <p:spPr>
          <a:xfrm>
            <a:off x="5812453" y="3693200"/>
            <a:ext cx="339923" cy="42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4566047" y="4812030"/>
            <a:ext cx="2832616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2.º Orden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84984" y="5301734"/>
            <a:ext cx="4594860" cy="72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Consumidores priorizan conveniencia y velocidad de entrega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632627" y="3225760"/>
            <a:ext cx="30480" cy="679847"/>
          </a:xfrm>
          <a:prstGeom prst="roundRect">
            <a:avLst>
              <a:gd name="adj" fmla="val 111525"/>
            </a:avLst>
          </a:prstGeom>
          <a:solidFill>
            <a:srgbClr val="D6D3CC"/>
          </a:solidFill>
          <a:ln/>
        </p:spPr>
      </p:sp>
      <p:sp>
        <p:nvSpPr>
          <p:cNvPr id="15" name="Shape 13"/>
          <p:cNvSpPr/>
          <p:nvPr/>
        </p:nvSpPr>
        <p:spPr>
          <a:xfrm>
            <a:off x="8392954" y="3650694"/>
            <a:ext cx="509826" cy="509826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16" name="Text 14"/>
          <p:cNvSpPr/>
          <p:nvPr/>
        </p:nvSpPr>
        <p:spPr>
          <a:xfrm>
            <a:off x="8477905" y="3693200"/>
            <a:ext cx="339923" cy="42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7231499" y="1784866"/>
            <a:ext cx="2832616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3.er Orden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50437" y="2274570"/>
            <a:ext cx="4594860" cy="72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Entrada masiva de competidores; intensificación de la guerra de precios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11298079" y="3905607"/>
            <a:ext cx="30480" cy="679847"/>
          </a:xfrm>
          <a:prstGeom prst="roundRect">
            <a:avLst>
              <a:gd name="adj" fmla="val 111525"/>
            </a:avLst>
          </a:prstGeom>
          <a:solidFill>
            <a:srgbClr val="D6D3CC"/>
          </a:solidFill>
          <a:ln/>
        </p:spPr>
      </p:sp>
      <p:sp>
        <p:nvSpPr>
          <p:cNvPr id="20" name="Shape 18"/>
          <p:cNvSpPr/>
          <p:nvPr/>
        </p:nvSpPr>
        <p:spPr>
          <a:xfrm>
            <a:off x="11058406" y="3650694"/>
            <a:ext cx="509826" cy="509826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21" name="Text 19"/>
          <p:cNvSpPr/>
          <p:nvPr/>
        </p:nvSpPr>
        <p:spPr>
          <a:xfrm>
            <a:off x="11143357" y="3693200"/>
            <a:ext cx="339923" cy="42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</a:t>
            </a:r>
            <a:endParaRPr lang="en-US" sz="2650" dirty="0"/>
          </a:p>
        </p:txBody>
      </p:sp>
      <p:sp>
        <p:nvSpPr>
          <p:cNvPr id="22" name="Text 20"/>
          <p:cNvSpPr/>
          <p:nvPr/>
        </p:nvSpPr>
        <p:spPr>
          <a:xfrm>
            <a:off x="9710142" y="4812030"/>
            <a:ext cx="3206234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4.º Orden — </a:t>
            </a:r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5F39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Insight Clave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015889" y="5301734"/>
            <a:ext cx="4594860" cy="72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Caída de márgenes → consolidación del sector → Uber adquiere Cornershop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793075" y="6281023"/>
            <a:ext cx="13044249" cy="1324451"/>
          </a:xfrm>
          <a:prstGeom prst="roundRect">
            <a:avLst>
              <a:gd name="adj" fmla="val 2567"/>
            </a:avLst>
          </a:prstGeom>
          <a:solidFill>
            <a:srgbClr val="C3EED6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651" y="6624876"/>
            <a:ext cx="283250" cy="22657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529477" y="6563916"/>
            <a:ext cx="12081272" cy="72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 adquisición por Uber no fue solo una salida financiera: fue el resultado inevitable de un modelo estructuralmente presionado por la competencia y los costos.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8461" y="517327"/>
            <a:ext cx="6005632" cy="570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Análisis de la Cadena de Valor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461" y="1473041"/>
            <a:ext cx="6074093" cy="607409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61" y="1473041"/>
            <a:ext cx="6074093" cy="607409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45467" y="2437686"/>
            <a:ext cx="3321487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Fuerzas que Presionan el Modelo</a:t>
            </a:r>
            <a:endParaRPr lang="en-US" sz="1750" dirty="0"/>
          </a:p>
        </p:txBody>
      </p:sp>
      <p:sp>
        <p:nvSpPr>
          <p:cNvPr id="6" name="Shape 2"/>
          <p:cNvSpPr/>
          <p:nvPr/>
        </p:nvSpPr>
        <p:spPr>
          <a:xfrm>
            <a:off x="7545467" y="2887980"/>
            <a:ext cx="2963585" cy="1896428"/>
          </a:xfrm>
          <a:prstGeom prst="roundRect">
            <a:avLst>
              <a:gd name="adj" fmla="val 5786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522607" y="2887980"/>
            <a:ext cx="91440" cy="1896428"/>
          </a:xfrm>
          <a:prstGeom prst="roundRect">
            <a:avLst>
              <a:gd name="adj" fmla="val 29940"/>
            </a:avLst>
          </a:prstGeom>
          <a:solidFill>
            <a:srgbClr val="1B5F39"/>
          </a:solidFill>
          <a:ln/>
        </p:spPr>
      </p:sp>
      <p:sp>
        <p:nvSpPr>
          <p:cNvPr id="8" name="Text 4"/>
          <p:cNvSpPr/>
          <p:nvPr/>
        </p:nvSpPr>
        <p:spPr>
          <a:xfrm>
            <a:off x="7819311" y="3093244"/>
            <a:ext cx="2281357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Proveedores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7819311" y="3525203"/>
            <a:ext cx="2484477" cy="79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Supermercados con alto poder negociador y canales propios en desarrollo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10655856" y="2887980"/>
            <a:ext cx="2963704" cy="1896428"/>
          </a:xfrm>
          <a:prstGeom prst="roundRect">
            <a:avLst>
              <a:gd name="adj" fmla="val 5786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0632996" y="2887980"/>
            <a:ext cx="91440" cy="1896428"/>
          </a:xfrm>
          <a:prstGeom prst="roundRect">
            <a:avLst>
              <a:gd name="adj" fmla="val 29940"/>
            </a:avLst>
          </a:prstGeom>
          <a:solidFill>
            <a:srgbClr val="1B5F39"/>
          </a:solidFill>
          <a:ln/>
        </p:spPr>
      </p:sp>
      <p:sp>
        <p:nvSpPr>
          <p:cNvPr id="12" name="Text 8"/>
          <p:cNvSpPr/>
          <p:nvPr/>
        </p:nvSpPr>
        <p:spPr>
          <a:xfrm>
            <a:off x="10929699" y="3093244"/>
            <a:ext cx="2281357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Competidores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10929699" y="3525203"/>
            <a:ext cx="2484596" cy="1053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Apps de delivery, marketplaces globales y retailers con e-commerce propio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545467" y="4931212"/>
            <a:ext cx="2963585" cy="1632942"/>
          </a:xfrm>
          <a:prstGeom prst="roundRect">
            <a:avLst>
              <a:gd name="adj" fmla="val 6720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522607" y="4931212"/>
            <a:ext cx="91440" cy="1632942"/>
          </a:xfrm>
          <a:prstGeom prst="roundRect">
            <a:avLst>
              <a:gd name="adj" fmla="val 29940"/>
            </a:avLst>
          </a:prstGeom>
          <a:solidFill>
            <a:srgbClr val="1B5F39"/>
          </a:solidFill>
          <a:ln/>
        </p:spPr>
      </p:sp>
      <p:sp>
        <p:nvSpPr>
          <p:cNvPr id="16" name="Text 12"/>
          <p:cNvSpPr/>
          <p:nvPr/>
        </p:nvSpPr>
        <p:spPr>
          <a:xfrm>
            <a:off x="7819311" y="5136475"/>
            <a:ext cx="2281357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Clientes</a:t>
            </a:r>
            <a:endParaRPr lang="en-US" sz="1750" dirty="0"/>
          </a:p>
        </p:txBody>
      </p:sp>
      <p:sp>
        <p:nvSpPr>
          <p:cNvPr id="17" name="Text 13"/>
          <p:cNvSpPr/>
          <p:nvPr/>
        </p:nvSpPr>
        <p:spPr>
          <a:xfrm>
            <a:off x="7819311" y="5568434"/>
            <a:ext cx="2484477" cy="79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Alta sensibilidad al precio y expectativas crecientes de velocidad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10655856" y="4931212"/>
            <a:ext cx="2963704" cy="1632942"/>
          </a:xfrm>
          <a:prstGeom prst="roundRect">
            <a:avLst>
              <a:gd name="adj" fmla="val 6720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0632996" y="4931212"/>
            <a:ext cx="91440" cy="1632942"/>
          </a:xfrm>
          <a:prstGeom prst="roundRect">
            <a:avLst>
              <a:gd name="adj" fmla="val 29940"/>
            </a:avLst>
          </a:prstGeom>
          <a:solidFill>
            <a:srgbClr val="1B5F39"/>
          </a:solidFill>
          <a:ln/>
        </p:spPr>
      </p:sp>
      <p:sp>
        <p:nvSpPr>
          <p:cNvPr id="20" name="Text 16"/>
          <p:cNvSpPr/>
          <p:nvPr/>
        </p:nvSpPr>
        <p:spPr>
          <a:xfrm>
            <a:off x="10929699" y="5136475"/>
            <a:ext cx="2281357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Reguladores</a:t>
            </a:r>
            <a:endParaRPr lang="en-US" sz="1750" dirty="0"/>
          </a:p>
        </p:txBody>
      </p:sp>
      <p:sp>
        <p:nvSpPr>
          <p:cNvPr id="21" name="Text 17"/>
          <p:cNvSpPr/>
          <p:nvPr/>
        </p:nvSpPr>
        <p:spPr>
          <a:xfrm>
            <a:off x="10929699" y="5568434"/>
            <a:ext cx="2484596" cy="79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Normativas laborales y digitales con impacto directo en costos operativos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3160" y="831056"/>
            <a:ext cx="7650480" cy="1333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Escenarios de Disrupción Futura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6233160" y="2465903"/>
            <a:ext cx="7650480" cy="4932521"/>
          </a:xfrm>
          <a:prstGeom prst="roundRect">
            <a:avLst>
              <a:gd name="adj" fmla="val 649"/>
            </a:avLst>
          </a:prstGeom>
          <a:solidFill>
            <a:srgbClr val="F0EDE6"/>
          </a:solidFill>
          <a:ln/>
        </p:spPr>
      </p:sp>
      <p:sp>
        <p:nvSpPr>
          <p:cNvPr id="5" name="Shape 2"/>
          <p:cNvSpPr/>
          <p:nvPr/>
        </p:nvSpPr>
        <p:spPr>
          <a:xfrm>
            <a:off x="6233160" y="2465903"/>
            <a:ext cx="7650480" cy="2466261"/>
          </a:xfrm>
          <a:prstGeom prst="roundRect">
            <a:avLst>
              <a:gd name="adj" fmla="val 1298"/>
            </a:avLst>
          </a:prstGeom>
          <a:solidFill>
            <a:srgbClr val="F0EDE6"/>
          </a:solidFill>
          <a:ln/>
        </p:spPr>
      </p:sp>
      <p:sp>
        <p:nvSpPr>
          <p:cNvPr id="6" name="Text 3"/>
          <p:cNvSpPr/>
          <p:nvPr/>
        </p:nvSpPr>
        <p:spPr>
          <a:xfrm>
            <a:off x="6446520" y="2679263"/>
            <a:ext cx="266735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Disrupción Moderada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446520" y="3133011"/>
            <a:ext cx="7223760" cy="1134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IA para optimización de rutas y predicción de demanda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Automatización de procesos en almacén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Logística colaborativa entre plataformas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446520" y="4387572"/>
            <a:ext cx="7223760" cy="331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Resultado: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Mejora incremental de eficiencia y márgenes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6233160" y="4932164"/>
            <a:ext cx="7650480" cy="2466261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10" name="Shape 7"/>
          <p:cNvSpPr/>
          <p:nvPr/>
        </p:nvSpPr>
        <p:spPr>
          <a:xfrm>
            <a:off x="6233160" y="4932164"/>
            <a:ext cx="7650480" cy="30480"/>
          </a:xfrm>
          <a:prstGeom prst="roundRect">
            <a:avLst>
              <a:gd name="adj" fmla="val 105016"/>
            </a:avLst>
          </a:prstGeom>
          <a:solidFill>
            <a:srgbClr val="D6D3CC"/>
          </a:solidFill>
          <a:ln/>
        </p:spPr>
      </p:sp>
      <p:sp>
        <p:nvSpPr>
          <p:cNvPr id="11" name="Text 8"/>
          <p:cNvSpPr/>
          <p:nvPr/>
        </p:nvSpPr>
        <p:spPr>
          <a:xfrm>
            <a:off x="6446520" y="5145524"/>
            <a:ext cx="266735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Disrupción Extrema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446520" y="5599271"/>
            <a:ext cx="7223760" cy="1134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Drones y robots de entrega autónoma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Vehículos autónomos de última milla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Dark stores y micro-fulfillment centers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446520" y="6853833"/>
            <a:ext cx="7223760" cy="331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Resultado: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Cambio radical de estructura de costos y modelo de negocio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3561" y="1170742"/>
            <a:ext cx="8754785" cy="497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Lecciones Estratégicas y Acciones Recomendadas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1708904" y="1835587"/>
            <a:ext cx="5526643" cy="5223272"/>
          </a:xfrm>
          <a:prstGeom prst="roundRect">
            <a:avLst>
              <a:gd name="adj" fmla="val 457"/>
            </a:avLst>
          </a:prstGeom>
          <a:solidFill>
            <a:srgbClr val="1B5F39"/>
          </a:solidFill>
          <a:ln/>
        </p:spPr>
      </p:sp>
      <p:sp>
        <p:nvSpPr>
          <p:cNvPr id="4" name="Text 2"/>
          <p:cNvSpPr/>
          <p:nvPr/>
        </p:nvSpPr>
        <p:spPr>
          <a:xfrm>
            <a:off x="1867972" y="1947267"/>
            <a:ext cx="1989653" cy="248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Lecciones Aprendidas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867972" y="2307550"/>
            <a:ext cx="5208508" cy="983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Crecimiento sin rentabilidad no es sostenible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 escala es necesaria pero no suficiente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 logística define la competitividad del negocio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 tecnología debe traducirse en eficiencia real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516892" y="1947267"/>
            <a:ext cx="2978348" cy="248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Acciones Estratégicas Prioritarias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16892" y="2321481"/>
            <a:ext cx="159068" cy="198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01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516892" y="2569131"/>
            <a:ext cx="5297329" cy="2286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9" name="Text 7"/>
          <p:cNvSpPr/>
          <p:nvPr/>
        </p:nvSpPr>
        <p:spPr>
          <a:xfrm>
            <a:off x="7516892" y="2694384"/>
            <a:ext cx="2453997" cy="248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IA y Optimización Logística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516892" y="3054668"/>
            <a:ext cx="5297329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Reducción del costo por entrega mediante algoritmos predictivos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516892" y="3502343"/>
            <a:ext cx="159068" cy="198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02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516892" y="3749993"/>
            <a:ext cx="5297329" cy="2286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3" name="Text 11"/>
          <p:cNvSpPr/>
          <p:nvPr/>
        </p:nvSpPr>
        <p:spPr>
          <a:xfrm>
            <a:off x="7516892" y="3875246"/>
            <a:ext cx="2545437" cy="248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Alianzas con Supermercados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516892" y="4235529"/>
            <a:ext cx="5297329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Modelos de revenue sharing para equilibrar poder negociador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516892" y="4683204"/>
            <a:ext cx="159068" cy="198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516892" y="4930854"/>
            <a:ext cx="5297329" cy="2286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7" name="Text 15"/>
          <p:cNvSpPr/>
          <p:nvPr/>
        </p:nvSpPr>
        <p:spPr>
          <a:xfrm>
            <a:off x="7516892" y="5056108"/>
            <a:ext cx="2144554" cy="248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Suscripción y Retención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516892" y="5416391"/>
            <a:ext cx="5297329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Modelos de suscripción para mejorar CLV y reducir CAC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516892" y="5864066"/>
            <a:ext cx="159068" cy="198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04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516892" y="6111716"/>
            <a:ext cx="5297329" cy="2286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21" name="Text 19"/>
          <p:cNvSpPr/>
          <p:nvPr/>
        </p:nvSpPr>
        <p:spPr>
          <a:xfrm>
            <a:off x="7516892" y="6236970"/>
            <a:ext cx="1989653" cy="248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Expansión Selectiva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516892" y="6597253"/>
            <a:ext cx="5297329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Priorizar mercados con densidad urbana y márgenes viables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5355"/>
            <a:ext cx="739568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Métricas Clave e Insight Final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11110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€/entrega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900113" y="32429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Costo por Entrega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733324"/>
            <a:ext cx="30480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Métrica central de eficiencia operativa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125278" y="2211110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CAC/CLV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4231719" y="32429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Adquisición vs. Valor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25278" y="3733324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Ratio crítico para viabilidad del modelo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456884" y="2211110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NPS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7563326" y="32429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Satisfacción Cliente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56884" y="3733324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Predictor de retención y crecimiento orgánico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788491" y="2211110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T. entrega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10894933" y="32429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Velocidad Operativa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88491" y="3733324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Tiempo de entrega como ventaja competitiva diferencial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133951" y="5332333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"El problema no fue la demanda — fue un modelo estructuralmente difícil de hacer rentable bajo presión competitiva intensa."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077182"/>
            <a:ext cx="30480" cy="1236107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656844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 consolidación vía Uber ilustra que en quick commerce,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 escala sin eficiencia estructural conduce inevitablemente a la absorción o al fracaso.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2026-03-18T16:21:23Z</dcterms:created>
  <dcterms:modified xsi:type="dcterms:W3CDTF">2026-03-18T16:21:23Z</dcterms:modified>
</cp:coreProperties>
</file>
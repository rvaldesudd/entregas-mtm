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Bitter" panose="020B0604020202020204" charset="0"/>
      <p:regular r:id="rId14"/>
    </p:embeddedFont>
  </p:embeddedFontLst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204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• Cliente • Disrupción • Oportunidad • Estrategia • Implementación • Métricas • Riesgos • Conclusión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43118"/>
            <a:ext cx="123794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Transformación Digital en Servicios Financieros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05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 la Banca Tradicional a Ecosistemas Digitales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• </a:t>
            </a:r>
            <a:r>
              <a:rPr lang="en-US" sz="1750" b="1" dirty="0">
                <a:solidFill>
                  <a:srgbClr val="9FA58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Contexto  • Cliente • Disrupción • Oportunidad • Implementación • Métricas • Riesgos • Conclusión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057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El Contexto Actual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54662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3138964"/>
            <a:ext cx="29689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Modelos Centralizados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38943" y="3720108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Sistemas legacy que dificultan innovación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46727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Rigidez Operativa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38943" y="5253871"/>
            <a:ext cx="4205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Altos costos y experiencia limitada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7188637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1F713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Contexto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Cliente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Disrupción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Oportunidad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Estrategia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Implementación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Métricas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Riesgos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Conclusión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7227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El Cliente Digital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34678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1020604" y="336149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3548539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2687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Disponibilidad 24/7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759166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Inmediatez y accesibilidad constante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134678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5443776" y="336149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3548539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42687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Personalización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4759166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Servicios basados en datos del usuario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134678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0"/>
          <p:cNvSpPr/>
          <p:nvPr/>
        </p:nvSpPr>
        <p:spPr>
          <a:xfrm>
            <a:off x="9866948" y="336149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4114" y="3548539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42687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Menor Fidelidad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4759166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Comparan con cualquier experiencia digital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793790" y="5966936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Contexto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b="1" dirty="0">
                <a:solidFill>
                  <a:srgbClr val="1F713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Cliente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Disrupción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Oportunidad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Estrategia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Implementación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Métricas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Riesgos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Conclusión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52713"/>
            <a:ext cx="57134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Fuerzas de Disrupción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815120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57720" y="38151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Tecnológicas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757720" y="4305538"/>
            <a:ext cx="31946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IA, cloud computing y análisis de datos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815120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9823" y="3815120"/>
            <a:ext cx="28550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Nuevos Competidores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199823" y="4305538"/>
            <a:ext cx="31946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Fintechs y tech giants con estructuras ágiles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3815120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641925" y="38151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Regulatorios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641925" y="4305538"/>
            <a:ext cx="31946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Open Banking obliga apertura de datos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93790" y="5286494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Contexto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Cliente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b="1" dirty="0">
                <a:solidFill>
                  <a:srgbClr val="1F713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Disrupción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Oportunidad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Estrategia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Implementación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Métricas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Riesgos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Conclusión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8426" y="670679"/>
            <a:ext cx="5779294" cy="659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Oportunidad Disruptiva</a:t>
            </a:r>
            <a:endParaRPr lang="en-US" sz="4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26" y="1722596"/>
            <a:ext cx="4384477" cy="8439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9404" y="2762726"/>
            <a:ext cx="26374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Integración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949404" y="3210044"/>
            <a:ext cx="3962519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Servicios financieros y no financieros en una plataforma</a:t>
            </a:r>
            <a:endParaRPr lang="en-US" sz="1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2902" y="1722596"/>
            <a:ext cx="4384477" cy="8439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33881" y="2762726"/>
            <a:ext cx="26374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APIs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5333881" y="3210044"/>
            <a:ext cx="3962519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Incorporación de terceros mediante interfaces abiertas</a:t>
            </a:r>
            <a:endParaRPr lang="en-US" sz="1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7379" y="1722596"/>
            <a:ext cx="4384596" cy="8439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8358" y="2762726"/>
            <a:ext cx="26374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Nuevos Ingresos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9718358" y="3210044"/>
            <a:ext cx="396263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Fuentes adicionales y fidelización mejorada</a:t>
            </a:r>
            <a:endParaRPr lang="en-US" sz="1650" dirty="0"/>
          </a:p>
        </p:txBody>
      </p:sp>
      <p:sp>
        <p:nvSpPr>
          <p:cNvPr id="12" name="Shape 7"/>
          <p:cNvSpPr/>
          <p:nvPr/>
        </p:nvSpPr>
        <p:spPr>
          <a:xfrm>
            <a:off x="738426" y="4293275"/>
            <a:ext cx="4253627" cy="797243"/>
          </a:xfrm>
          <a:prstGeom prst="roundRect">
            <a:avLst>
              <a:gd name="adj" fmla="val 3970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8"/>
          <p:cNvSpPr/>
          <p:nvPr/>
        </p:nvSpPr>
        <p:spPr>
          <a:xfrm>
            <a:off x="972264" y="4527113"/>
            <a:ext cx="26374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Contexto</a:t>
            </a:r>
            <a:endParaRPr lang="en-US" sz="2050" dirty="0"/>
          </a:p>
        </p:txBody>
      </p:sp>
      <p:sp>
        <p:nvSpPr>
          <p:cNvPr id="14" name="Shape 9"/>
          <p:cNvSpPr/>
          <p:nvPr/>
        </p:nvSpPr>
        <p:spPr>
          <a:xfrm>
            <a:off x="5188268" y="4293275"/>
            <a:ext cx="4253746" cy="797243"/>
          </a:xfrm>
          <a:prstGeom prst="roundRect">
            <a:avLst>
              <a:gd name="adj" fmla="val 3970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0"/>
          <p:cNvSpPr/>
          <p:nvPr/>
        </p:nvSpPr>
        <p:spPr>
          <a:xfrm>
            <a:off x="5422106" y="4527113"/>
            <a:ext cx="26374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Cliente</a:t>
            </a:r>
            <a:endParaRPr lang="en-US" sz="2050" dirty="0"/>
          </a:p>
        </p:txBody>
      </p:sp>
      <p:sp>
        <p:nvSpPr>
          <p:cNvPr id="16" name="Shape 11"/>
          <p:cNvSpPr/>
          <p:nvPr/>
        </p:nvSpPr>
        <p:spPr>
          <a:xfrm>
            <a:off x="9638228" y="4293275"/>
            <a:ext cx="4253746" cy="797243"/>
          </a:xfrm>
          <a:prstGeom prst="roundRect">
            <a:avLst>
              <a:gd name="adj" fmla="val 3970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2"/>
          <p:cNvSpPr/>
          <p:nvPr/>
        </p:nvSpPr>
        <p:spPr>
          <a:xfrm>
            <a:off x="9872067" y="4527113"/>
            <a:ext cx="26374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Disrupción</a:t>
            </a:r>
            <a:endParaRPr lang="en-US" sz="2050" dirty="0"/>
          </a:p>
        </p:txBody>
      </p:sp>
      <p:sp>
        <p:nvSpPr>
          <p:cNvPr id="18" name="Shape 13"/>
          <p:cNvSpPr/>
          <p:nvPr/>
        </p:nvSpPr>
        <p:spPr>
          <a:xfrm>
            <a:off x="738426" y="5286732"/>
            <a:ext cx="4253627" cy="797243"/>
          </a:xfrm>
          <a:prstGeom prst="roundRect">
            <a:avLst>
              <a:gd name="adj" fmla="val 3970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4"/>
          <p:cNvSpPr/>
          <p:nvPr/>
        </p:nvSpPr>
        <p:spPr>
          <a:xfrm>
            <a:off x="972264" y="5520571"/>
            <a:ext cx="26374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Oportunidad</a:t>
            </a:r>
            <a:endParaRPr lang="en-US" sz="2050" dirty="0"/>
          </a:p>
        </p:txBody>
      </p:sp>
      <p:sp>
        <p:nvSpPr>
          <p:cNvPr id="20" name="Shape 15"/>
          <p:cNvSpPr/>
          <p:nvPr/>
        </p:nvSpPr>
        <p:spPr>
          <a:xfrm>
            <a:off x="5188268" y="5286732"/>
            <a:ext cx="4253746" cy="797243"/>
          </a:xfrm>
          <a:prstGeom prst="roundRect">
            <a:avLst>
              <a:gd name="adj" fmla="val 3970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6"/>
          <p:cNvSpPr/>
          <p:nvPr/>
        </p:nvSpPr>
        <p:spPr>
          <a:xfrm>
            <a:off x="5422106" y="5520571"/>
            <a:ext cx="26374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Estrategia</a:t>
            </a:r>
            <a:endParaRPr lang="en-US" sz="2050" dirty="0"/>
          </a:p>
        </p:txBody>
      </p:sp>
      <p:sp>
        <p:nvSpPr>
          <p:cNvPr id="22" name="Shape 17"/>
          <p:cNvSpPr/>
          <p:nvPr/>
        </p:nvSpPr>
        <p:spPr>
          <a:xfrm>
            <a:off x="9638228" y="5286732"/>
            <a:ext cx="4253746" cy="797243"/>
          </a:xfrm>
          <a:prstGeom prst="roundRect">
            <a:avLst>
              <a:gd name="adj" fmla="val 3970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18"/>
          <p:cNvSpPr/>
          <p:nvPr/>
        </p:nvSpPr>
        <p:spPr>
          <a:xfrm>
            <a:off x="9872067" y="5520571"/>
            <a:ext cx="26374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Implementación</a:t>
            </a:r>
            <a:endParaRPr lang="en-US" sz="2050" dirty="0"/>
          </a:p>
        </p:txBody>
      </p:sp>
      <p:sp>
        <p:nvSpPr>
          <p:cNvPr id="24" name="Shape 19"/>
          <p:cNvSpPr/>
          <p:nvPr/>
        </p:nvSpPr>
        <p:spPr>
          <a:xfrm>
            <a:off x="738426" y="6280190"/>
            <a:ext cx="13153549" cy="797243"/>
          </a:xfrm>
          <a:prstGeom prst="roundRect">
            <a:avLst>
              <a:gd name="adj" fmla="val 3970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0"/>
          <p:cNvSpPr/>
          <p:nvPr/>
        </p:nvSpPr>
        <p:spPr>
          <a:xfrm>
            <a:off x="972264" y="6514028"/>
            <a:ext cx="26374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Métricas</a:t>
            </a:r>
            <a:endParaRPr lang="en-US" sz="2050" dirty="0"/>
          </a:p>
        </p:txBody>
      </p:sp>
      <p:sp>
        <p:nvSpPr>
          <p:cNvPr id="26" name="Text 21"/>
          <p:cNvSpPr/>
          <p:nvPr/>
        </p:nvSpPr>
        <p:spPr>
          <a:xfrm>
            <a:off x="738426" y="7298174"/>
            <a:ext cx="13153549" cy="260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3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Contexto</a:t>
            </a: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3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Cliente</a:t>
            </a: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3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Disrupción</a:t>
            </a: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300" b="1" dirty="0">
                <a:solidFill>
                  <a:srgbClr val="1F713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Oportunidad</a:t>
            </a: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3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Estrategia</a:t>
            </a: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3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Implementación</a:t>
            </a: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3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Métricas</a:t>
            </a: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3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Riesgos</a:t>
            </a: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3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Conclusión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66474" y="431959"/>
            <a:ext cx="3875246" cy="4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Diseño de la Estrategia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2266474" y="2571393"/>
            <a:ext cx="2083237" cy="1533882"/>
          </a:xfrm>
          <a:prstGeom prst="roundRect">
            <a:avLst>
              <a:gd name="adj" fmla="val 1431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2412802" y="2717721"/>
            <a:ext cx="438983" cy="438983"/>
          </a:xfrm>
          <a:prstGeom prst="roundRect">
            <a:avLst>
              <a:gd name="adj" fmla="val 20827881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3531" y="2838331"/>
            <a:ext cx="197525" cy="1975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12802" y="3251002"/>
            <a:ext cx="17905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Open Banking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412802" y="3573899"/>
            <a:ext cx="1790581" cy="38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APIs abiertas para integración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444008" y="2571393"/>
            <a:ext cx="2083237" cy="1533882"/>
          </a:xfrm>
          <a:prstGeom prst="roundRect">
            <a:avLst>
              <a:gd name="adj" fmla="val 1431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4590336" y="2717721"/>
            <a:ext cx="438983" cy="438983"/>
          </a:xfrm>
          <a:prstGeom prst="roundRect">
            <a:avLst>
              <a:gd name="adj" fmla="val 20827881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1065" y="2838331"/>
            <a:ext cx="197525" cy="1975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0336" y="3251002"/>
            <a:ext cx="17905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Marketplace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90336" y="3573899"/>
            <a:ext cx="1790581" cy="38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Integración con fintechs y terceros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621542" y="2571393"/>
            <a:ext cx="2083237" cy="1533882"/>
          </a:xfrm>
          <a:prstGeom prst="roundRect">
            <a:avLst>
              <a:gd name="adj" fmla="val 1431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0"/>
          <p:cNvSpPr/>
          <p:nvPr/>
        </p:nvSpPr>
        <p:spPr>
          <a:xfrm>
            <a:off x="6767870" y="2717721"/>
            <a:ext cx="438983" cy="438983"/>
          </a:xfrm>
          <a:prstGeom prst="roundRect">
            <a:avLst>
              <a:gd name="adj" fmla="val 20827881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88599" y="2838331"/>
            <a:ext cx="197525" cy="1975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67870" y="3251002"/>
            <a:ext cx="179058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IA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767870" y="3573899"/>
            <a:ext cx="1790581" cy="38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Personalización y predicción</a:t>
            </a:r>
            <a:endParaRPr lang="en-US" sz="11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9348" y="1137047"/>
            <a:ext cx="3302079" cy="4402693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266474" y="5752147"/>
            <a:ext cx="10097452" cy="481370"/>
          </a:xfrm>
          <a:prstGeom prst="roundRect">
            <a:avLst>
              <a:gd name="adj" fmla="val 4560"/>
            </a:avLst>
          </a:prstGeom>
          <a:solidFill>
            <a:srgbClr val="2A2C20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2802" y="5951696"/>
            <a:ext cx="182880" cy="14632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742009" y="5882997"/>
            <a:ext cx="9475589" cy="192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Efecto de red:</a:t>
            </a:r>
            <a:r>
              <a:rPr lang="en-US" sz="11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Más usuarios y partners mejoran el servicio y atraen nuevos usuarios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2266474" y="6339721"/>
            <a:ext cx="2453640" cy="551736"/>
          </a:xfrm>
          <a:prstGeom prst="roundRect">
            <a:avLst>
              <a:gd name="adj" fmla="val 13259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16"/>
          <p:cNvSpPr/>
          <p:nvPr/>
        </p:nvSpPr>
        <p:spPr>
          <a:xfrm>
            <a:off x="2251234" y="6339721"/>
            <a:ext cx="60960" cy="551736"/>
          </a:xfrm>
          <a:prstGeom prst="roundRect">
            <a:avLst>
              <a:gd name="adj" fmla="val 36009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17"/>
          <p:cNvSpPr/>
          <p:nvPr/>
        </p:nvSpPr>
        <p:spPr>
          <a:xfrm>
            <a:off x="2473762" y="6501289"/>
            <a:ext cx="182915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Contexto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4814411" y="6339721"/>
            <a:ext cx="2453640" cy="551736"/>
          </a:xfrm>
          <a:prstGeom prst="roundRect">
            <a:avLst>
              <a:gd name="adj" fmla="val 13259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19"/>
          <p:cNvSpPr/>
          <p:nvPr/>
        </p:nvSpPr>
        <p:spPr>
          <a:xfrm>
            <a:off x="4799171" y="6339721"/>
            <a:ext cx="60960" cy="551736"/>
          </a:xfrm>
          <a:prstGeom prst="roundRect">
            <a:avLst>
              <a:gd name="adj" fmla="val 36009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0"/>
          <p:cNvSpPr/>
          <p:nvPr/>
        </p:nvSpPr>
        <p:spPr>
          <a:xfrm>
            <a:off x="5021699" y="6501289"/>
            <a:ext cx="182915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Cliente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7362349" y="6339721"/>
            <a:ext cx="2453640" cy="551736"/>
          </a:xfrm>
          <a:prstGeom prst="roundRect">
            <a:avLst>
              <a:gd name="adj" fmla="val 13259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2"/>
          <p:cNvSpPr/>
          <p:nvPr/>
        </p:nvSpPr>
        <p:spPr>
          <a:xfrm>
            <a:off x="7347109" y="6339721"/>
            <a:ext cx="60960" cy="551736"/>
          </a:xfrm>
          <a:prstGeom prst="roundRect">
            <a:avLst>
              <a:gd name="adj" fmla="val 36009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3"/>
          <p:cNvSpPr/>
          <p:nvPr/>
        </p:nvSpPr>
        <p:spPr>
          <a:xfrm>
            <a:off x="7569637" y="6501289"/>
            <a:ext cx="182915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Disrupción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9910286" y="6339721"/>
            <a:ext cx="2453640" cy="551736"/>
          </a:xfrm>
          <a:prstGeom prst="roundRect">
            <a:avLst>
              <a:gd name="adj" fmla="val 13259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25"/>
          <p:cNvSpPr/>
          <p:nvPr/>
        </p:nvSpPr>
        <p:spPr>
          <a:xfrm>
            <a:off x="9895046" y="6339721"/>
            <a:ext cx="60960" cy="551736"/>
          </a:xfrm>
          <a:prstGeom prst="roundRect">
            <a:avLst>
              <a:gd name="adj" fmla="val 36009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3" name="Text 26"/>
          <p:cNvSpPr/>
          <p:nvPr/>
        </p:nvSpPr>
        <p:spPr>
          <a:xfrm>
            <a:off x="10117574" y="6501289"/>
            <a:ext cx="182915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Oportunidad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2266474" y="6985754"/>
            <a:ext cx="2453640" cy="551736"/>
          </a:xfrm>
          <a:prstGeom prst="roundRect">
            <a:avLst>
              <a:gd name="adj" fmla="val 13259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Shape 28"/>
          <p:cNvSpPr/>
          <p:nvPr/>
        </p:nvSpPr>
        <p:spPr>
          <a:xfrm>
            <a:off x="2251234" y="6985754"/>
            <a:ext cx="60960" cy="551736"/>
          </a:xfrm>
          <a:prstGeom prst="roundRect">
            <a:avLst>
              <a:gd name="adj" fmla="val 36009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6" name="Text 29"/>
          <p:cNvSpPr/>
          <p:nvPr/>
        </p:nvSpPr>
        <p:spPr>
          <a:xfrm>
            <a:off x="2473762" y="7147322"/>
            <a:ext cx="193762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Diseño de la Estrategia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4814411" y="6985754"/>
            <a:ext cx="2453640" cy="551736"/>
          </a:xfrm>
          <a:prstGeom prst="roundRect">
            <a:avLst>
              <a:gd name="adj" fmla="val 13259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Shape 31"/>
          <p:cNvSpPr/>
          <p:nvPr/>
        </p:nvSpPr>
        <p:spPr>
          <a:xfrm>
            <a:off x="4799171" y="6985754"/>
            <a:ext cx="60960" cy="551736"/>
          </a:xfrm>
          <a:prstGeom prst="roundRect">
            <a:avLst>
              <a:gd name="adj" fmla="val 36009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9" name="Text 32"/>
          <p:cNvSpPr/>
          <p:nvPr/>
        </p:nvSpPr>
        <p:spPr>
          <a:xfrm>
            <a:off x="5021699" y="7147322"/>
            <a:ext cx="182915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Implementación</a:t>
            </a:r>
            <a:endParaRPr lang="en-US" sz="1400" dirty="0"/>
          </a:p>
        </p:txBody>
      </p:sp>
      <p:sp>
        <p:nvSpPr>
          <p:cNvPr id="40" name="Shape 33"/>
          <p:cNvSpPr/>
          <p:nvPr/>
        </p:nvSpPr>
        <p:spPr>
          <a:xfrm>
            <a:off x="7362349" y="6985754"/>
            <a:ext cx="2453640" cy="551736"/>
          </a:xfrm>
          <a:prstGeom prst="roundRect">
            <a:avLst>
              <a:gd name="adj" fmla="val 13259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1" name="Shape 34"/>
          <p:cNvSpPr/>
          <p:nvPr/>
        </p:nvSpPr>
        <p:spPr>
          <a:xfrm>
            <a:off x="7347109" y="6985754"/>
            <a:ext cx="60960" cy="551736"/>
          </a:xfrm>
          <a:prstGeom prst="roundRect">
            <a:avLst>
              <a:gd name="adj" fmla="val 36009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2" name="Text 35"/>
          <p:cNvSpPr/>
          <p:nvPr/>
        </p:nvSpPr>
        <p:spPr>
          <a:xfrm>
            <a:off x="7569637" y="7147322"/>
            <a:ext cx="182915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Métricas</a:t>
            </a:r>
            <a:endParaRPr lang="en-US" sz="1400" dirty="0"/>
          </a:p>
        </p:txBody>
      </p:sp>
      <p:sp>
        <p:nvSpPr>
          <p:cNvPr id="43" name="Text 36"/>
          <p:cNvSpPr/>
          <p:nvPr/>
        </p:nvSpPr>
        <p:spPr>
          <a:xfrm>
            <a:off x="2266474" y="7643693"/>
            <a:ext cx="10097452" cy="153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Contexto</a:t>
            </a: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9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Cliente</a:t>
            </a: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9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Disru</a:t>
            </a:r>
            <a:r>
              <a:rPr lang="en-US" sz="900" dirty="0">
                <a:solidFill>
                  <a:srgbClr val="CCCCCC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pción • Oportunidad •</a:t>
            </a: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</a:t>
            </a:r>
            <a:r>
              <a:rPr lang="en-US" sz="900" b="1" dirty="0">
                <a:solidFill>
                  <a:srgbClr val="1F713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Estrategia</a:t>
            </a: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9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Implementación</a:t>
            </a: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9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Métricas</a:t>
            </a: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9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Riesgos</a:t>
            </a: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9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Conclusión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8788" y="820222"/>
            <a:ext cx="5220533" cy="591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Plan de Implementación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1062871" y="2486382"/>
            <a:ext cx="3967877" cy="189428"/>
          </a:xfrm>
          <a:prstGeom prst="roundRect">
            <a:avLst>
              <a:gd name="adj" fmla="val 15003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778788" y="2296894"/>
            <a:ext cx="568285" cy="568285"/>
          </a:xfrm>
          <a:prstGeom prst="roundRect">
            <a:avLst>
              <a:gd name="adj" fmla="val 80453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0829" y="2438936"/>
            <a:ext cx="284083" cy="2840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8216" y="3023473"/>
            <a:ext cx="236827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Fase 1: Piloto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68216" y="3414355"/>
            <a:ext cx="3873222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Plataforma básica con clientes selectos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473184" y="2202180"/>
            <a:ext cx="3967877" cy="189428"/>
          </a:xfrm>
          <a:prstGeom prst="roundRect">
            <a:avLst>
              <a:gd name="adj" fmla="val 15003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5189101" y="2012692"/>
            <a:ext cx="568285" cy="568285"/>
          </a:xfrm>
          <a:prstGeom prst="roundRect">
            <a:avLst>
              <a:gd name="adj" fmla="val 80453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1143" y="2154734"/>
            <a:ext cx="284083" cy="28408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78529" y="2739271"/>
            <a:ext cx="236827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Fase 2: Expansión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5378529" y="3130153"/>
            <a:ext cx="3873222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Integración con fintechs y IA avanzada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9883497" y="1918097"/>
            <a:ext cx="3967877" cy="189428"/>
          </a:xfrm>
          <a:prstGeom prst="roundRect">
            <a:avLst>
              <a:gd name="adj" fmla="val 15003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0"/>
          <p:cNvSpPr/>
          <p:nvPr/>
        </p:nvSpPr>
        <p:spPr>
          <a:xfrm>
            <a:off x="9599414" y="1728609"/>
            <a:ext cx="568285" cy="568285"/>
          </a:xfrm>
          <a:prstGeom prst="roundRect">
            <a:avLst>
              <a:gd name="adj" fmla="val 80453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41456" y="1870650"/>
            <a:ext cx="284083" cy="28408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788843" y="2455188"/>
            <a:ext cx="236827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Fase 3: Escala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9788843" y="2846070"/>
            <a:ext cx="3873222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Consolidación del ecosistema digital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778788" y="4358878"/>
            <a:ext cx="4252079" cy="22860"/>
          </a:xfrm>
          <a:prstGeom prst="rect">
            <a:avLst/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4"/>
          <p:cNvSpPr/>
          <p:nvPr/>
        </p:nvSpPr>
        <p:spPr>
          <a:xfrm>
            <a:off x="778788" y="4499253"/>
            <a:ext cx="236827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8A8F87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Contexto</a:t>
            </a:r>
            <a:endParaRPr lang="en-US" sz="1850" dirty="0"/>
          </a:p>
        </p:txBody>
      </p:sp>
      <p:sp>
        <p:nvSpPr>
          <p:cNvPr id="20" name="Shape 15"/>
          <p:cNvSpPr/>
          <p:nvPr/>
        </p:nvSpPr>
        <p:spPr>
          <a:xfrm>
            <a:off x="5189101" y="4358878"/>
            <a:ext cx="4252079" cy="22860"/>
          </a:xfrm>
          <a:prstGeom prst="rect">
            <a:avLst/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6"/>
          <p:cNvSpPr/>
          <p:nvPr/>
        </p:nvSpPr>
        <p:spPr>
          <a:xfrm>
            <a:off x="5189101" y="4499253"/>
            <a:ext cx="236827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8A8F87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Cliente</a:t>
            </a:r>
            <a:endParaRPr lang="en-US" sz="1850" dirty="0"/>
          </a:p>
        </p:txBody>
      </p:sp>
      <p:sp>
        <p:nvSpPr>
          <p:cNvPr id="22" name="Shape 17"/>
          <p:cNvSpPr/>
          <p:nvPr/>
        </p:nvSpPr>
        <p:spPr>
          <a:xfrm>
            <a:off x="9599414" y="4358878"/>
            <a:ext cx="4252079" cy="22860"/>
          </a:xfrm>
          <a:prstGeom prst="rect">
            <a:avLst/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18"/>
          <p:cNvSpPr/>
          <p:nvPr/>
        </p:nvSpPr>
        <p:spPr>
          <a:xfrm>
            <a:off x="9599414" y="4499253"/>
            <a:ext cx="236827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8A8F87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Disrupción</a:t>
            </a:r>
            <a:endParaRPr lang="en-US" sz="1850" dirty="0"/>
          </a:p>
        </p:txBody>
      </p:sp>
      <p:sp>
        <p:nvSpPr>
          <p:cNvPr id="24" name="Shape 19"/>
          <p:cNvSpPr/>
          <p:nvPr/>
        </p:nvSpPr>
        <p:spPr>
          <a:xfrm>
            <a:off x="778788" y="5394603"/>
            <a:ext cx="4252079" cy="22860"/>
          </a:xfrm>
          <a:prstGeom prst="rect">
            <a:avLst/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0"/>
          <p:cNvSpPr/>
          <p:nvPr/>
        </p:nvSpPr>
        <p:spPr>
          <a:xfrm>
            <a:off x="778788" y="5534978"/>
            <a:ext cx="236827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8A8F87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Oportunidad</a:t>
            </a:r>
            <a:endParaRPr lang="en-US" sz="1850" dirty="0"/>
          </a:p>
        </p:txBody>
      </p:sp>
      <p:sp>
        <p:nvSpPr>
          <p:cNvPr id="26" name="Shape 21"/>
          <p:cNvSpPr/>
          <p:nvPr/>
        </p:nvSpPr>
        <p:spPr>
          <a:xfrm>
            <a:off x="5189101" y="5394603"/>
            <a:ext cx="4252079" cy="22860"/>
          </a:xfrm>
          <a:prstGeom prst="rect">
            <a:avLst/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2"/>
          <p:cNvSpPr/>
          <p:nvPr/>
        </p:nvSpPr>
        <p:spPr>
          <a:xfrm>
            <a:off x="5189101" y="5534978"/>
            <a:ext cx="236827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8A8F87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Estrategia</a:t>
            </a:r>
            <a:endParaRPr lang="en-US" sz="1850" dirty="0"/>
          </a:p>
        </p:txBody>
      </p:sp>
      <p:sp>
        <p:nvSpPr>
          <p:cNvPr id="28" name="Shape 23"/>
          <p:cNvSpPr/>
          <p:nvPr/>
        </p:nvSpPr>
        <p:spPr>
          <a:xfrm>
            <a:off x="9599414" y="5394603"/>
            <a:ext cx="4252079" cy="22860"/>
          </a:xfrm>
          <a:prstGeom prst="rect">
            <a:avLst/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Text 24"/>
          <p:cNvSpPr/>
          <p:nvPr/>
        </p:nvSpPr>
        <p:spPr>
          <a:xfrm>
            <a:off x="9599414" y="5534978"/>
            <a:ext cx="236827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F4D3A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Implementación</a:t>
            </a:r>
            <a:endParaRPr lang="en-US" sz="1850" dirty="0"/>
          </a:p>
        </p:txBody>
      </p:sp>
      <p:sp>
        <p:nvSpPr>
          <p:cNvPr id="30" name="Shape 25"/>
          <p:cNvSpPr/>
          <p:nvPr/>
        </p:nvSpPr>
        <p:spPr>
          <a:xfrm>
            <a:off x="778788" y="6430328"/>
            <a:ext cx="4252079" cy="22860"/>
          </a:xfrm>
          <a:prstGeom prst="rect">
            <a:avLst/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1" name="Text 26"/>
          <p:cNvSpPr/>
          <p:nvPr/>
        </p:nvSpPr>
        <p:spPr>
          <a:xfrm>
            <a:off x="778788" y="6570702"/>
            <a:ext cx="236827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8A8F87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Métricas</a:t>
            </a:r>
            <a:endParaRPr lang="en-US" sz="1850" dirty="0"/>
          </a:p>
        </p:txBody>
      </p:sp>
      <p:sp>
        <p:nvSpPr>
          <p:cNvPr id="32" name="Shape 27"/>
          <p:cNvSpPr/>
          <p:nvPr/>
        </p:nvSpPr>
        <p:spPr>
          <a:xfrm>
            <a:off x="5189101" y="6430328"/>
            <a:ext cx="4252079" cy="22860"/>
          </a:xfrm>
          <a:prstGeom prst="rect">
            <a:avLst/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3" name="Text 28"/>
          <p:cNvSpPr/>
          <p:nvPr/>
        </p:nvSpPr>
        <p:spPr>
          <a:xfrm>
            <a:off x="5189101" y="6570702"/>
            <a:ext cx="236827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8A8F87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Riesgos</a:t>
            </a:r>
            <a:endParaRPr lang="en-US" sz="1850" dirty="0"/>
          </a:p>
        </p:txBody>
      </p:sp>
      <p:sp>
        <p:nvSpPr>
          <p:cNvPr id="34" name="Shape 29"/>
          <p:cNvSpPr/>
          <p:nvPr/>
        </p:nvSpPr>
        <p:spPr>
          <a:xfrm>
            <a:off x="9599414" y="6430328"/>
            <a:ext cx="4252079" cy="22860"/>
          </a:xfrm>
          <a:prstGeom prst="rect">
            <a:avLst/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5" name="Text 30"/>
          <p:cNvSpPr/>
          <p:nvPr/>
        </p:nvSpPr>
        <p:spPr>
          <a:xfrm>
            <a:off x="9599414" y="6570702"/>
            <a:ext cx="2368272" cy="29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8A8F87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Conclusión</a:t>
            </a:r>
            <a:endParaRPr lang="en-US" sz="1850" dirty="0"/>
          </a:p>
        </p:txBody>
      </p:sp>
      <p:sp>
        <p:nvSpPr>
          <p:cNvPr id="36" name="Text 31"/>
          <p:cNvSpPr/>
          <p:nvPr/>
        </p:nvSpPr>
        <p:spPr>
          <a:xfrm>
            <a:off x="778788" y="7186732"/>
            <a:ext cx="13072824" cy="222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15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Contexto</a:t>
            </a: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15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Cliente</a:t>
            </a: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15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Disrupción</a:t>
            </a: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15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Oportunidad</a:t>
            </a: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15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Estrategia</a:t>
            </a: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150" b="1" dirty="0">
                <a:solidFill>
                  <a:srgbClr val="1F713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Implementación</a:t>
            </a: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15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Riesgos</a:t>
            </a: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15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Métricas</a:t>
            </a:r>
            <a:r>
              <a:rPr lang="en-US" sz="11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• </a:t>
            </a:r>
            <a:r>
              <a:rPr lang="en-US" sz="115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Conclusión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9805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Riesgos Estratégicos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60464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763310" y="2760464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142524" y="3017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Adopción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508177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Baja adopción de clientes tradicionales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760464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186482" y="2760464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5565696" y="3017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Regulación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3508177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Cambios regulatorios inesperados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2760464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9609653" y="2760464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9988868" y="3017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Competencia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3508177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Competencia intensificada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718090"/>
            <a:ext cx="4196358" cy="1367909"/>
          </a:xfrm>
          <a:prstGeom prst="roundRect">
            <a:avLst>
              <a:gd name="adj" fmla="val 10695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763310" y="4718090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1142524" y="49753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Ciberseguridad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2524" y="5465802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Retos de seguridad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5216962" y="4718090"/>
            <a:ext cx="4196358" cy="1367909"/>
          </a:xfrm>
          <a:prstGeom prst="roundRect">
            <a:avLst>
              <a:gd name="adj" fmla="val 10695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5186482" y="4718090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5565696" y="49753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Ejecución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65696" y="5465802"/>
            <a:ext cx="35903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Fallos en transformación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93790" y="6341150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Contexto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Cliente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Disrupción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Oportunidad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Estrategia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Implementación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b="1" dirty="0">
                <a:solidFill>
                  <a:srgbClr val="1F713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Riesgos</a:t>
            </a:r>
            <a:r>
              <a:rPr lang="en-US" sz="1400" dirty="0">
                <a:solidFill>
                  <a:srgbClr val="5F6F52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Métricas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Conclusión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169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Métricas Clave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2744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↑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3459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Crecimiento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94966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Usuarios activos e ingresos digitales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242744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↑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3459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Adopción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394966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Transacciones digitales y frecuencia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242744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↑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3459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Ecosistema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394966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Partners integrados e interacciones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567714"/>
            <a:ext cx="3090505" cy="868918"/>
          </a:xfrm>
          <a:prstGeom prst="roundRect">
            <a:avLst>
              <a:gd name="adj" fmla="val 3916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1051084" y="4825008"/>
            <a:ext cx="25759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Contexto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111109" y="4567714"/>
            <a:ext cx="3090624" cy="868918"/>
          </a:xfrm>
          <a:prstGeom prst="roundRect">
            <a:avLst>
              <a:gd name="adj" fmla="val 3916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4368403" y="4825008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Cliente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428548" y="4567714"/>
            <a:ext cx="3090624" cy="868918"/>
          </a:xfrm>
          <a:prstGeom prst="roundRect">
            <a:avLst>
              <a:gd name="adj" fmla="val 3916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7685842" y="4825008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Disrupción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745986" y="4567714"/>
            <a:ext cx="3090624" cy="868918"/>
          </a:xfrm>
          <a:prstGeom prst="roundRect">
            <a:avLst>
              <a:gd name="adj" fmla="val 3916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11003280" y="4825008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Oportunidad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93790" y="5663446"/>
            <a:ext cx="4196358" cy="868918"/>
          </a:xfrm>
          <a:prstGeom prst="roundRect">
            <a:avLst>
              <a:gd name="adj" fmla="val 3916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1051084" y="59207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Estrategia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216962" y="5663446"/>
            <a:ext cx="4196358" cy="868918"/>
          </a:xfrm>
          <a:prstGeom prst="roundRect">
            <a:avLst>
              <a:gd name="adj" fmla="val 3916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5474256" y="59207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Implementación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640133" y="5663446"/>
            <a:ext cx="4196477" cy="868918"/>
          </a:xfrm>
          <a:prstGeom prst="roundRect">
            <a:avLst>
              <a:gd name="adj" fmla="val 3916"/>
            </a:avLst>
          </a:prstGeom>
          <a:solidFill>
            <a:srgbClr val="1C1D1F"/>
          </a:solidFill>
          <a:ln w="30480">
            <a:solidFill>
              <a:srgbClr val="54555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9897427" y="59207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Métricas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93790" y="6787515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Contexto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Cliente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Disrupción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Oportunidad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Estrategia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Implementación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Riesgos 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• </a:t>
            </a:r>
            <a:r>
              <a:rPr lang="en-US" sz="1400" b="1" dirty="0">
                <a:solidFill>
                  <a:srgbClr val="1F713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Métricas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Conclusión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847368"/>
            <a:ext cx="58077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Plataforma de Ecosistema Financiero Digital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02449" y="1315045"/>
            <a:ext cx="7825502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Una solución </a:t>
            </a:r>
            <a:r>
              <a:rPr lang="en-US" sz="850" b="1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transformadora</a:t>
            </a: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para la banca tradicional que integra servicios financieros y no financieros en un marketplace unificado, aprovechando Open Banking, APIs e IA para crear experiencias personalizadas.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02449" y="1672233"/>
            <a:ext cx="351174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El Desafío de la Banca Tradicional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3402449" y="2040731"/>
            <a:ext cx="2570678" cy="1242893"/>
          </a:xfrm>
          <a:prstGeom prst="roundRect">
            <a:avLst>
              <a:gd name="adj" fmla="val 1369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3515797" y="2154079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FCEC99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9380" y="2247662"/>
            <a:ext cx="152995" cy="1529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15797" y="2550914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Sistemas Legacy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515797" y="2762012"/>
            <a:ext cx="2343983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Altos costes operativos y baja velocidad de innovación que impiden competir con fintechs ágiles.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029801" y="2040731"/>
            <a:ext cx="2570678" cy="1242893"/>
          </a:xfrm>
          <a:prstGeom prst="roundRect">
            <a:avLst>
              <a:gd name="adj" fmla="val 1369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6143149" y="2154079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FCEC99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36732" y="2247662"/>
            <a:ext cx="152995" cy="1529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43149" y="2550914"/>
            <a:ext cx="169830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Experiencia Fragmentada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143149" y="2762012"/>
            <a:ext cx="2343983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Servicios desconectados y falta de personalización generan baja fidelización del cliente.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8657153" y="2040731"/>
            <a:ext cx="2570797" cy="1242893"/>
          </a:xfrm>
          <a:prstGeom prst="roundRect">
            <a:avLst>
              <a:gd name="adj" fmla="val 1369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Shape 12"/>
          <p:cNvSpPr/>
          <p:nvPr/>
        </p:nvSpPr>
        <p:spPr>
          <a:xfrm>
            <a:off x="8770501" y="2154079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FCEC99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64084" y="2247662"/>
            <a:ext cx="152995" cy="15299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70501" y="2550914"/>
            <a:ext cx="1427559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Nuevos Competidores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770501" y="2762012"/>
            <a:ext cx="2344103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Big tech y fintechs capturan valor con soluciones digitales "todo en uno" que el cliente demanda.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3402449" y="3368635"/>
            <a:ext cx="460736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Nuestra Solución: Ecosistema en Plataforma</a:t>
            </a:r>
            <a:endParaRPr lang="en-US" sz="1750" dirty="0"/>
          </a:p>
        </p:txBody>
      </p:sp>
      <p:sp>
        <p:nvSpPr>
          <p:cNvPr id="21" name="Shape 16"/>
          <p:cNvSpPr/>
          <p:nvPr/>
        </p:nvSpPr>
        <p:spPr>
          <a:xfrm>
            <a:off x="3402449" y="3737134"/>
            <a:ext cx="2570678" cy="1242893"/>
          </a:xfrm>
          <a:prstGeom prst="roundRect">
            <a:avLst>
              <a:gd name="adj" fmla="val 1369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Shape 17"/>
          <p:cNvSpPr/>
          <p:nvPr/>
        </p:nvSpPr>
        <p:spPr>
          <a:xfrm>
            <a:off x="3515797" y="3850481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09380" y="3944064"/>
            <a:ext cx="152995" cy="15299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515797" y="4247317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Integración API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515797" y="4458414"/>
            <a:ext cx="2343983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Open Banking conecta servicios financieros y comercios en un marketplace único y unificado.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6029801" y="3737134"/>
            <a:ext cx="2570678" cy="1242893"/>
          </a:xfrm>
          <a:prstGeom prst="roundRect">
            <a:avLst>
              <a:gd name="adj" fmla="val 1369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Shape 21"/>
          <p:cNvSpPr/>
          <p:nvPr/>
        </p:nvSpPr>
        <p:spPr>
          <a:xfrm>
            <a:off x="6143149" y="3850481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36732" y="3944064"/>
            <a:ext cx="152995" cy="15299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143149" y="4247317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IA y Analytics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6143149" y="4458414"/>
            <a:ext cx="2343983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Personalización en tiempo real mediante data analytics para mayor engagement y conversión.</a:t>
            </a:r>
            <a:endParaRPr lang="en-US" sz="850" dirty="0"/>
          </a:p>
        </p:txBody>
      </p:sp>
      <p:sp>
        <p:nvSpPr>
          <p:cNvPr id="31" name="Shape 24"/>
          <p:cNvSpPr/>
          <p:nvPr/>
        </p:nvSpPr>
        <p:spPr>
          <a:xfrm>
            <a:off x="8657153" y="3737134"/>
            <a:ext cx="2570797" cy="1242893"/>
          </a:xfrm>
          <a:prstGeom prst="roundRect">
            <a:avLst>
              <a:gd name="adj" fmla="val 1369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Shape 25"/>
          <p:cNvSpPr/>
          <p:nvPr/>
        </p:nvSpPr>
        <p:spPr>
          <a:xfrm>
            <a:off x="8770501" y="3850481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64084" y="3944064"/>
            <a:ext cx="152995" cy="15299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770501" y="4247317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Efecto de Red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8770501" y="4458414"/>
            <a:ext cx="2344103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Crecimiento exponencial: más usuarios atraen más partners y generan más valor para todos.</a:t>
            </a:r>
            <a:endParaRPr lang="en-US" sz="850" dirty="0"/>
          </a:p>
        </p:txBody>
      </p:sp>
      <p:sp>
        <p:nvSpPr>
          <p:cNvPr id="36" name="Text 28"/>
          <p:cNvSpPr/>
          <p:nvPr/>
        </p:nvSpPr>
        <p:spPr>
          <a:xfrm>
            <a:off x="3402449" y="5065038"/>
            <a:ext cx="23561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Ventajas Competitivas</a:t>
            </a:r>
            <a:endParaRPr lang="en-US" sz="1750" dirty="0"/>
          </a:p>
        </p:txBody>
      </p:sp>
      <p:sp>
        <p:nvSpPr>
          <p:cNvPr id="37" name="Shape 29"/>
          <p:cNvSpPr/>
          <p:nvPr/>
        </p:nvSpPr>
        <p:spPr>
          <a:xfrm>
            <a:off x="3402449" y="5493782"/>
            <a:ext cx="56674" cy="56674"/>
          </a:xfrm>
          <a:prstGeom prst="roundRect">
            <a:avLst>
              <a:gd name="adj" fmla="val 806719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8" name="Text 30"/>
          <p:cNvSpPr/>
          <p:nvPr/>
        </p:nvSpPr>
        <p:spPr>
          <a:xfrm>
            <a:off x="3515797" y="543353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Data Flywheel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3515797" y="5644634"/>
            <a:ext cx="2447925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Mejor data genera mejores recomendaciones, incrementando engagement y retención.</a:t>
            </a:r>
            <a:endParaRPr lang="en-US" sz="850" dirty="0"/>
          </a:p>
        </p:txBody>
      </p:sp>
      <p:sp>
        <p:nvSpPr>
          <p:cNvPr id="40" name="Shape 32"/>
          <p:cNvSpPr/>
          <p:nvPr/>
        </p:nvSpPr>
        <p:spPr>
          <a:xfrm>
            <a:off x="6034564" y="5493782"/>
            <a:ext cx="56674" cy="56674"/>
          </a:xfrm>
          <a:prstGeom prst="roundRect">
            <a:avLst>
              <a:gd name="adj" fmla="val 806719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1" name="Text 33"/>
          <p:cNvSpPr/>
          <p:nvPr/>
        </p:nvSpPr>
        <p:spPr>
          <a:xfrm>
            <a:off x="6147911" y="543353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Escalabilidad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6147911" y="5644634"/>
            <a:ext cx="2447925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Bajos costes marginales al crecer garantizan márgenes atractivos.</a:t>
            </a:r>
            <a:endParaRPr lang="en-US" sz="850" dirty="0"/>
          </a:p>
        </p:txBody>
      </p:sp>
      <p:sp>
        <p:nvSpPr>
          <p:cNvPr id="43" name="Shape 35"/>
          <p:cNvSpPr/>
          <p:nvPr/>
        </p:nvSpPr>
        <p:spPr>
          <a:xfrm>
            <a:off x="8666678" y="5493782"/>
            <a:ext cx="56674" cy="56674"/>
          </a:xfrm>
          <a:prstGeom prst="roundRect">
            <a:avLst>
              <a:gd name="adj" fmla="val 806719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4" name="Text 36"/>
          <p:cNvSpPr/>
          <p:nvPr/>
        </p:nvSpPr>
        <p:spPr>
          <a:xfrm>
            <a:off x="8780026" y="543353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Lock-in del Cliente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8780026" y="5644634"/>
            <a:ext cx="2447925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Ecosistema integrado reduce churn y genera barreras de entrada difíciles de replicar.</a:t>
            </a:r>
            <a:endParaRPr lang="en-US" sz="850" dirty="0"/>
          </a:p>
        </p:txBody>
      </p:sp>
      <p:sp>
        <p:nvSpPr>
          <p:cNvPr id="46" name="Text 38"/>
          <p:cNvSpPr/>
          <p:nvPr/>
        </p:nvSpPr>
        <p:spPr>
          <a:xfrm>
            <a:off x="3402449" y="6001822"/>
            <a:ext cx="306085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Plan de Mitigación de Riesgos</a:t>
            </a:r>
            <a:endParaRPr lang="en-US" sz="1750" dirty="0"/>
          </a:p>
        </p:txBody>
      </p:sp>
      <p:sp>
        <p:nvSpPr>
          <p:cNvPr id="47" name="Shape 39"/>
          <p:cNvSpPr/>
          <p:nvPr/>
        </p:nvSpPr>
        <p:spPr>
          <a:xfrm>
            <a:off x="3402449" y="6430566"/>
            <a:ext cx="56674" cy="56674"/>
          </a:xfrm>
          <a:prstGeom prst="roundRect">
            <a:avLst>
              <a:gd name="adj" fmla="val 806719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8" name="Text 40"/>
          <p:cNvSpPr/>
          <p:nvPr/>
        </p:nvSpPr>
        <p:spPr>
          <a:xfrm>
            <a:off x="3515797" y="6370320"/>
            <a:ext cx="171092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Implementación por Fases</a:t>
            </a:r>
            <a:endParaRPr lang="en-US" sz="1100" dirty="0"/>
          </a:p>
        </p:txBody>
      </p:sp>
      <p:sp>
        <p:nvSpPr>
          <p:cNvPr id="49" name="Text 41"/>
          <p:cNvSpPr/>
          <p:nvPr/>
        </p:nvSpPr>
        <p:spPr>
          <a:xfrm>
            <a:off x="3515797" y="6581418"/>
            <a:ext cx="2447925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Piloto → Expansión → Escala para gestionar adopción y transformación tecnológica.</a:t>
            </a:r>
            <a:endParaRPr lang="en-US" sz="850" dirty="0"/>
          </a:p>
        </p:txBody>
      </p:sp>
      <p:sp>
        <p:nvSpPr>
          <p:cNvPr id="50" name="Shape 42"/>
          <p:cNvSpPr/>
          <p:nvPr/>
        </p:nvSpPr>
        <p:spPr>
          <a:xfrm>
            <a:off x="6034564" y="6430566"/>
            <a:ext cx="56674" cy="56674"/>
          </a:xfrm>
          <a:prstGeom prst="roundRect">
            <a:avLst>
              <a:gd name="adj" fmla="val 806719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1" name="Text 43"/>
          <p:cNvSpPr/>
          <p:nvPr/>
        </p:nvSpPr>
        <p:spPr>
          <a:xfrm>
            <a:off x="6147911" y="6370320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Alianzas Estratégicas</a:t>
            </a:r>
            <a:endParaRPr lang="en-US" sz="1100" dirty="0"/>
          </a:p>
        </p:txBody>
      </p:sp>
      <p:sp>
        <p:nvSpPr>
          <p:cNvPr id="52" name="Text 44"/>
          <p:cNvSpPr/>
          <p:nvPr/>
        </p:nvSpPr>
        <p:spPr>
          <a:xfrm>
            <a:off x="6147911" y="6581418"/>
            <a:ext cx="2447925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Colaboraciones con partners clave aceleran adopción y reducen riesgo regulatorio.</a:t>
            </a:r>
            <a:endParaRPr lang="en-US" sz="850" dirty="0"/>
          </a:p>
        </p:txBody>
      </p:sp>
      <p:sp>
        <p:nvSpPr>
          <p:cNvPr id="53" name="Shape 45"/>
          <p:cNvSpPr/>
          <p:nvPr/>
        </p:nvSpPr>
        <p:spPr>
          <a:xfrm>
            <a:off x="8666678" y="6430566"/>
            <a:ext cx="56674" cy="56674"/>
          </a:xfrm>
          <a:prstGeom prst="roundRect">
            <a:avLst>
              <a:gd name="adj" fmla="val 806719"/>
            </a:avLst>
          </a:prstGeom>
          <a:solidFill>
            <a:srgbClr val="9FA5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4" name="Text 46"/>
          <p:cNvSpPr/>
          <p:nvPr/>
        </p:nvSpPr>
        <p:spPr>
          <a:xfrm>
            <a:off x="8780026" y="6370320"/>
            <a:ext cx="147161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Seguridad y Confianza</a:t>
            </a:r>
            <a:endParaRPr lang="en-US" sz="1100" dirty="0"/>
          </a:p>
        </p:txBody>
      </p:sp>
      <p:sp>
        <p:nvSpPr>
          <p:cNvPr id="55" name="Text 47"/>
          <p:cNvSpPr/>
          <p:nvPr/>
        </p:nvSpPr>
        <p:spPr>
          <a:xfrm>
            <a:off x="8780026" y="6581418"/>
            <a:ext cx="2447925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Inversión en ciberseguridad y cumplimiento normativo desde el inicio.</a:t>
            </a:r>
            <a:endParaRPr lang="en-US" sz="850" dirty="0"/>
          </a:p>
        </p:txBody>
      </p:sp>
      <p:sp>
        <p:nvSpPr>
          <p:cNvPr id="56" name="Shape 48"/>
          <p:cNvSpPr/>
          <p:nvPr/>
        </p:nvSpPr>
        <p:spPr>
          <a:xfrm>
            <a:off x="3402449" y="6917293"/>
            <a:ext cx="7825502" cy="464820"/>
          </a:xfrm>
          <a:prstGeom prst="roundRect">
            <a:avLst>
              <a:gd name="adj" fmla="val 3660"/>
            </a:avLst>
          </a:prstGeom>
          <a:solidFill>
            <a:srgbClr val="2A2C20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5797" y="7058978"/>
            <a:ext cx="141684" cy="113348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3770828" y="7002304"/>
            <a:ext cx="7343775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Insight Clave:</a:t>
            </a:r>
            <a:r>
              <a:rPr lang="en-US" sz="8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El valor ya no reside en el producto financiero, sino en el ecosistema que lo rodea. Esta plataforma captura ese valor mediante integración, personalización y efecto de red.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2589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Conclusión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588306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1020604" y="3815120"/>
            <a:ext cx="29338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Necesidad Estratégica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30553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Transformación digital es imperativa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588306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443776" y="38151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Ventaja Competitiva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4305538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Mejor experiencia y eficiencia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588306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3B3C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9866948" y="38151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Futuro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4305538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Posicionamiento frente a fintechs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513308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Contexto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Cliente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Disrupción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Oportunidad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Estrategia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Implementación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Métricas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dirty="0">
                <a:solidFill>
                  <a:srgbClr val="A0A0A0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Riesgos</a:t>
            </a: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• </a:t>
            </a:r>
            <a:r>
              <a:rPr lang="en-US" sz="1400" b="1" dirty="0">
                <a:solidFill>
                  <a:srgbClr val="1F713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Conclusión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734</Words>
  <Application>Microsoft Office PowerPoint</Application>
  <PresentationFormat>Personalizado</PresentationFormat>
  <Paragraphs>154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Bitter</vt:lpstr>
      <vt:lpstr>Outfit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 Campos Romero</dc:creator>
  <cp:lastModifiedBy>Agustin Campos Romero</cp:lastModifiedBy>
  <cp:revision>1</cp:revision>
  <dcterms:created xsi:type="dcterms:W3CDTF">2026-04-01T18:27:59Z</dcterms:created>
  <dcterms:modified xsi:type="dcterms:W3CDTF">2026-04-01T18:28:38Z</dcterms:modified>
</cp:coreProperties>
</file>